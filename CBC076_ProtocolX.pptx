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1EB66A71-656A-FB94-8B9C-A9A993F1C98B}">
          <p14:sldIdLst>
            <p14:sldId id="256"/>
            <p14:sldId id="257"/>
          </p14:sldIdLst>
        </p14:section>
        <p14:section name="Discover" id="{E63CF0CF-E6E6-C085-129F-C9FDF7AF07C6}">
          <p14:sldIdLst>
            <p14:sldId id="258"/>
          </p14:sldIdLst>
        </p14:section>
        <p14:section name="Solution" id="{EACB823D-F0F5-9817-7A33-4DC3CB45EE4E}">
          <p14:sldIdLst>
            <p14:sldId id="259"/>
            <p14:sldId id="260"/>
          </p14:sldIdLst>
        </p14:section>
        <p14:section name="Build" id="{C0A01E4F-2C2E-90D3-E00B-F4B8B71FB72E}">
          <p14:sldIdLst>
            <p14:sldId id="261"/>
            <p14:sldId id="262"/>
          </p14:sldIdLst>
        </p14:section>
        <p14:section name="Delivery" id="{9152C933-90D0-8AE9-0479-7A9DCB3F5D38}">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45629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Good [morning]. We are Team ProtocolX. Our problem is plagiarism detection, and our solution, SimilarityLens, catches copied and paraphrased text and leaves the final decision to a human. (20 sec)</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problem is number 20 in AI and ML: find copied or highly similar content, including paraphrasing that exact word matching misses, and give evidence for human review. Our focus is exact plus semantic similarity with evidence. (30 sec)</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Teachers and reviewers check large batches by hand. Paraphrased copying slips past word matching, while honest same-topic answers get flagged unfairly, and tools show a score without evidence. It matters because a wrong flag harms a student, and AI paraphrasing makes copying easier. (1 min)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one line: we help reviewers catch copied and paraphrased work by combining exact matching with meaning-based AI and showing the evidence. Step one, they upload documents. Step two, we score exact wording and meaning and filter noise. Step three, they see highlighted evidence and decide. (1.5 min)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Six features, each tied to a pain point: an exact match engine for copying, a semantic engine for paraphrase, smart filtering for false matches, an evidence view, explained scores, and a reviewer workflow. Everything is an indicator, never proof. (1 min)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layers. A React web app for the reviewer, FastAPI for the logic, and a data and AI layer with SQLite and a MiniLM embedding model. All open source, as the rules require. (1 min)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Existing tools usually give one percentage and a fixed threshold. We show highlighted passages with reasons, adapt to each batch's baseline, and compare efficiently by embedding once. Our edge: we separate copied, paraphrased and common text, and a human makes the call. (1 min)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Impact: reviewers check flagged pairs first and fewer students are falsely accused. Feasibility: pretrained open models, no training, CPU only, four people in 20 hours. It scales by swapping to PostgreSQL and adding FAISS. Top risk is false flags on same-topic answers; we handle it with the batch baseline, the common-text filter and human review. (1 min)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1"/>
          </a:solidFill>
          <a:ln/>
        </p:spPr>
        <p:txBody>
          <a:bodyPr/>
          <a:lstStyle/>
          <a:p>
            <a:endParaRPr/>
          </a:p>
        </p:txBody>
      </p:sp>
      <p:pic>
        <p:nvPicPr>
          <p:cNvPr id="3" name="Image 0" descr="CBC 2.0 logo"/>
          <p:cNvPicPr>
            <a:picLocks noChangeAspect="1"/>
          </p:cNvPicPr>
          <p:nvPr/>
        </p:nvPicPr>
        <p:blipFill>
          <a:blip r:embed="rId2"/>
          <a:stretch>
            <a:fillRect/>
          </a:stretch>
        </p:blipFill>
        <p:spPr>
          <a:xfrm>
            <a:off x="7863840" y="1143000"/>
            <a:ext cx="3922776" cy="4389120"/>
          </a:xfrm>
          <a:prstGeom prst="rect">
            <a:avLst/>
          </a:prstGeom>
        </p:spPr>
      </p:pic>
      <p:sp>
        <p:nvSpPr>
          <p:cNvPr id="4" name="Text 1"/>
          <p:cNvSpPr>
            <a:spLocks noGrp="1"/>
          </p:cNvSpPr>
          <p:nvPr>
            <p:ph type="title" idx="102" hasCustomPrompt="1"/>
          </p:nvPr>
        </p:nvSpPr>
        <p:spPr>
          <a:xfrm>
            <a:off x="731520" y="1828800"/>
            <a:ext cx="7132320" cy="1371600"/>
          </a:xfrm>
          <a:prstGeom prst="rect">
            <a:avLst/>
          </a:prstGeom>
          <a:noFill/>
          <a:ln/>
        </p:spPr>
        <p:txBody>
          <a:bodyPr wrap="square" rtlCol="0"/>
          <a:lstStyle>
            <a:lvl1pPr marL="0" indent="0" algn="l">
              <a:buNone/>
              <a:defRPr lang="en-US" sz="5600" b="1" dirty="0">
                <a:solidFill>
                  <a:schemeClr val="bg1"/>
                </a:solidFill>
              </a:defRPr>
            </a:lvl1pPr>
          </a:lstStyle>
          <a:p>
            <a:pPr marL="0" indent="0" algn="l">
              <a:buNone/>
            </a:pPr>
            <a:endParaRPr lang="en-US" sz="5600" dirty="0"/>
          </a:p>
        </p:txBody>
      </p:sp>
      <p:sp>
        <p:nvSpPr>
          <p:cNvPr id="5" name="Text 1"/>
          <p:cNvSpPr>
            <a:spLocks noGrp="1"/>
          </p:cNvSpPr>
          <p:nvPr>
            <p:ph type="body" idx="103" hasCustomPrompt="1"/>
          </p:nvPr>
        </p:nvSpPr>
        <p:spPr>
          <a:xfrm>
            <a:off x="731520" y="3337560"/>
            <a:ext cx="7132320" cy="731520"/>
          </a:xfrm>
          <a:prstGeom prst="rect">
            <a:avLst/>
          </a:prstGeom>
          <a:noFill/>
          <a:ln/>
        </p:spPr>
        <p:txBody>
          <a:bodyPr wrap="square" rtlCol="0"/>
          <a:lstStyle>
            <a:lvl1pPr marL="0" indent="0" algn="l">
              <a:buNone/>
              <a:defRPr lang="en-US" sz="2200" dirty="0">
                <a:solidFill>
                  <a:schemeClr val="bg2"/>
                </a:solidFill>
              </a:defRPr>
            </a:lvl1pPr>
          </a:lstStyle>
          <a:p>
            <a:pPr marL="0" indent="0" algn="l">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pic>
        <p:nvPicPr>
          <p:cNvPr id="2" name="Image 0" descr="CBC 2.0 logo"/>
          <p:cNvPicPr>
            <a:picLocks noChangeAspect="1"/>
          </p:cNvPicPr>
          <p:nvPr/>
        </p:nvPicPr>
        <p:blipFill>
          <a:blip r:embed="rId2"/>
          <a:stretch>
            <a:fillRect/>
          </a:stretch>
        </p:blipFill>
        <p:spPr>
          <a:xfrm>
            <a:off x="10927080" y="320040"/>
            <a:ext cx="694944" cy="777240"/>
          </a:xfrm>
          <a:prstGeom prst="rect">
            <a:avLst/>
          </a:prstGeom>
        </p:spPr>
      </p:pic>
      <p:sp>
        <p:nvSpPr>
          <p:cNvPr id="3" name="Text 0"/>
          <p:cNvSpPr>
            <a:spLocks noGrp="1"/>
          </p:cNvSpPr>
          <p:nvPr>
            <p:ph type="title" idx="101" hasCustomPrompt="1"/>
          </p:nvPr>
        </p:nvSpPr>
        <p:spPr>
          <a:xfrm>
            <a:off x="548640" y="365760"/>
            <a:ext cx="10058400" cy="822960"/>
          </a:xfrm>
          <a:prstGeom prst="rect">
            <a:avLst/>
          </a:prstGeom>
          <a:noFill/>
          <a:ln/>
        </p:spPr>
        <p:txBody>
          <a:bodyPr wrap="square" rtlCol="0"/>
          <a:lstStyle>
            <a:lvl1pPr marL="0" indent="0" algn="l">
              <a:buNone/>
              <a:defRPr lang="en-US" sz="3600" b="1" dirty="0">
                <a:solidFill>
                  <a:schemeClr val="tx1"/>
                </a:solidFill>
              </a:defRPr>
            </a:lvl1pPr>
          </a:lstStyle>
          <a:p>
            <a:pPr marL="0" indent="0" algn="l">
              <a:buNone/>
            </a:pPr>
            <a:endParaRPr lang="en-US" sz="3600" dirty="0"/>
          </a:p>
        </p:txBody>
      </p:sp>
      <p:sp>
        <p:nvSpPr>
          <p:cNvPr id="4" name="Text 0"/>
          <p:cNvSpPr txBox="1"/>
          <p:nvPr/>
        </p:nvSpPr>
        <p:spPr>
          <a:xfrm>
            <a:off x="548640" y="6355080"/>
            <a:ext cx="9144000" cy="274320"/>
          </a:xfrm>
          <a:prstGeom prst="rect">
            <a:avLst/>
          </a:prstGeom>
          <a:noFill/>
          <a:ln/>
        </p:spPr>
        <p:txBody>
          <a:bodyPr wrap="square" lIns="0" tIns="0" rIns="0" bIns="0" rtlCol="0" anchor="ctr"/>
          <a:lstStyle/>
          <a:p>
            <a:pPr marL="0" indent="0">
              <a:buNone/>
            </a:pPr>
            <a:r>
              <a:rPr lang="en-US" sz="1200" dirty="0">
                <a:solidFill>
                  <a:schemeClr val="accent6"/>
                </a:solidFill>
              </a:rPr>
              <a:t>CBC 2.0   |   Design Round   |   Team ID: ______   |   Domain: AI &amp; ML</a:t>
            </a:r>
            <a:endParaRPr lang="en-US" sz="12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2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1"/>
          </a:solidFill>
          <a:ln/>
        </p:spPr>
        <p:txBody>
          <a:bodyPr/>
          <a:lstStyle/>
          <a:p>
            <a:endParaRPr/>
          </a:p>
        </p:txBody>
      </p:sp>
      <p:pic>
        <p:nvPicPr>
          <p:cNvPr id="3" name="Image 0" descr="CBC 2.0 logo"/>
          <p:cNvPicPr>
            <a:picLocks noChangeAspect="1"/>
          </p:cNvPicPr>
          <p:nvPr/>
        </p:nvPicPr>
        <p:blipFill>
          <a:blip r:embed="rId2"/>
          <a:stretch>
            <a:fillRect/>
          </a:stretch>
        </p:blipFill>
        <p:spPr>
          <a:xfrm>
            <a:off x="10927080" y="320040"/>
            <a:ext cx="694944" cy="777240"/>
          </a:xfrm>
          <a:prstGeom prst="rect">
            <a:avLst/>
          </a:prstGeom>
        </p:spPr>
      </p:pic>
      <p:sp>
        <p:nvSpPr>
          <p:cNvPr id="4" name="Text 1"/>
          <p:cNvSpPr>
            <a:spLocks noGrp="1"/>
          </p:cNvSpPr>
          <p:nvPr>
            <p:ph type="title" idx="102" hasCustomPrompt="1"/>
          </p:nvPr>
        </p:nvSpPr>
        <p:spPr>
          <a:xfrm>
            <a:off x="548640" y="365760"/>
            <a:ext cx="10058400" cy="82296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
        <p:nvSpPr>
          <p:cNvPr id="5" name="Text 1"/>
          <p:cNvSpPr txBox="1"/>
          <p:nvPr/>
        </p:nvSpPr>
        <p:spPr>
          <a:xfrm>
            <a:off x="548640" y="6355080"/>
            <a:ext cx="9144000" cy="274320"/>
          </a:xfrm>
          <a:prstGeom prst="rect">
            <a:avLst/>
          </a:prstGeom>
          <a:noFill/>
          <a:ln/>
        </p:spPr>
        <p:txBody>
          <a:bodyPr wrap="square" lIns="0" tIns="0" rIns="0" bIns="0" rtlCol="0" anchor="ctr"/>
          <a:lstStyle/>
          <a:p>
            <a:pPr marL="0" indent="0">
              <a:buNone/>
            </a:pPr>
            <a:r>
              <a:rPr lang="en-US" sz="1200" dirty="0">
                <a:solidFill>
                  <a:schemeClr val="bg2"/>
                </a:solidFill>
              </a:rPr>
              <a:t>CBC 2.0   |   Design Round   |   Team ID: ______   |   Domain: AI &amp; ML</a:t>
            </a:r>
            <a:endParaRPr lang="en-US" sz="12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200">
                <a:solidFill>
                  <a:schemeClr val="bg2"/>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2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18.png"/><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vent tag"/>
          <p:cNvSpPr txBox="1"/>
          <p:nvPr/>
        </p:nvSpPr>
        <p:spPr>
          <a:xfrm>
            <a:off x="731520" y="1234440"/>
            <a:ext cx="7132320" cy="365760"/>
          </a:xfrm>
          <a:prstGeom prst="rect">
            <a:avLst/>
          </a:prstGeom>
          <a:noFill/>
          <a:ln/>
        </p:spPr>
        <p:txBody>
          <a:bodyPr wrap="square" lIns="0" tIns="0" rIns="0" bIns="0" rtlCol="0" anchor="t"/>
          <a:lstStyle/>
          <a:p>
            <a:pPr marL="0" indent="0">
              <a:buNone/>
            </a:pPr>
            <a:r>
              <a:rPr lang="en-US" sz="1600" b="1" kern="0" spc="400" dirty="0">
                <a:solidFill>
                  <a:schemeClr val="accent4"/>
                </a:solidFill>
              </a:rPr>
              <a:t>CBC 2.0  •  HACKATHON</a:t>
            </a:r>
            <a:endParaRPr lang="en-US" sz="1600" dirty="0"/>
          </a:p>
        </p:txBody>
      </p:sp>
      <p:sp>
        <p:nvSpPr>
          <p:cNvPr id="3" name="Text 1"/>
          <p:cNvSpPr>
            <a:spLocks noGrp="1"/>
          </p:cNvSpPr>
          <p:nvPr>
            <p:ph type="title" idx="102" hasCustomPrompt="1"/>
          </p:nvPr>
        </p:nvSpPr>
        <p:spPr>
          <a:xfrm>
            <a:off x="731520" y="1828800"/>
            <a:ext cx="7132320" cy="1371600"/>
          </a:xfrm>
          <a:prstGeom prst="rect">
            <a:avLst/>
          </a:prstGeom>
          <a:noFill/>
          <a:ln/>
        </p:spPr>
        <p:txBody>
          <a:bodyPr wrap="square" lIns="0" tIns="0" rIns="0" bIns="0" rtlCol="0" anchor="b"/>
          <a:lstStyle/>
          <a:p>
            <a:pPr marL="0" indent="0" algn="l">
              <a:buNone/>
            </a:pPr>
            <a:r>
              <a:rPr lang="en-US" sz="5600" b="1" dirty="0">
                <a:solidFill>
                  <a:schemeClr val="bg1"/>
                </a:solidFill>
              </a:rPr>
              <a:t>Design Round</a:t>
            </a:r>
            <a:endParaRPr lang="en-US" sz="5600" dirty="0"/>
          </a:p>
        </p:txBody>
      </p:sp>
      <p:sp>
        <p:nvSpPr>
          <p:cNvPr id="4" name="Text 1"/>
          <p:cNvSpPr>
            <a:spLocks noGrp="1"/>
          </p:cNvSpPr>
          <p:nvPr>
            <p:ph type="body" idx="103" hasCustomPrompt="1"/>
          </p:nvPr>
        </p:nvSpPr>
        <p:spPr>
          <a:xfrm>
            <a:off x="731520" y="3337560"/>
            <a:ext cx="7132320" cy="731520"/>
          </a:xfrm>
          <a:prstGeom prst="rect">
            <a:avLst/>
          </a:prstGeom>
          <a:noFill/>
          <a:ln/>
        </p:spPr>
        <p:txBody>
          <a:bodyPr wrap="square" lIns="0" tIns="0" rIns="0" bIns="0" rtlCol="0" anchor="t"/>
          <a:lstStyle/>
          <a:p>
            <a:pPr marL="0" indent="0" algn="l">
              <a:buNone/>
            </a:pPr>
            <a:r>
              <a:rPr lang="en-US" sz="2200" dirty="0">
                <a:solidFill>
                  <a:schemeClr val="bg2"/>
                </a:solidFill>
              </a:rPr>
              <a:t>SimilarityLens — catches copied and paraphrased text</a:t>
            </a:r>
            <a:endParaRPr lang="en-US" sz="2200" dirty="0"/>
          </a:p>
        </p:txBody>
      </p:sp>
      <p:sp>
        <p:nvSpPr>
          <p:cNvPr id="5" name="Info card 1"/>
          <p:cNvSpPr/>
          <p:nvPr/>
        </p:nvSpPr>
        <p:spPr>
          <a:xfrm>
            <a:off x="731520" y="4754880"/>
            <a:ext cx="1645920" cy="1005840"/>
          </a:xfrm>
          <a:prstGeom prst="roundRect">
            <a:avLst>
              <a:gd name="adj" fmla="val 10909"/>
            </a:avLst>
          </a:prstGeom>
          <a:solidFill>
            <a:schemeClr val="tx2"/>
          </a:solidFill>
          <a:ln/>
        </p:spPr>
      </p:sp>
      <p:sp>
        <p:nvSpPr>
          <p:cNvPr id="6" name="Text 4"/>
          <p:cNvSpPr txBox="1"/>
          <p:nvPr/>
        </p:nvSpPr>
        <p:spPr>
          <a:xfrm>
            <a:off x="868680" y="4864608"/>
            <a:ext cx="1371600" cy="274320"/>
          </a:xfrm>
          <a:prstGeom prst="rect">
            <a:avLst/>
          </a:prstGeom>
          <a:noFill/>
          <a:ln/>
        </p:spPr>
        <p:txBody>
          <a:bodyPr wrap="square" lIns="0" tIns="0" rIns="0" bIns="0" rtlCol="0" anchor="t"/>
          <a:lstStyle/>
          <a:p>
            <a:pPr marL="0" indent="0">
              <a:buNone/>
            </a:pPr>
            <a:r>
              <a:rPr lang="en-US" sz="1100" b="1" dirty="0">
                <a:solidFill>
                  <a:schemeClr val="bg2"/>
                </a:solidFill>
              </a:rPr>
              <a:t>TEAM NAME</a:t>
            </a:r>
            <a:endParaRPr lang="en-US" sz="1100" dirty="0"/>
          </a:p>
        </p:txBody>
      </p:sp>
      <p:sp>
        <p:nvSpPr>
          <p:cNvPr id="7" name="Text 5"/>
          <p:cNvSpPr txBox="1"/>
          <p:nvPr/>
        </p:nvSpPr>
        <p:spPr>
          <a:xfrm>
            <a:off x="868680" y="5212080"/>
            <a:ext cx="1371600" cy="365760"/>
          </a:xfrm>
          <a:prstGeom prst="rect">
            <a:avLst/>
          </a:prstGeom>
          <a:noFill/>
          <a:ln/>
        </p:spPr>
        <p:txBody>
          <a:bodyPr wrap="square" lIns="0" tIns="0" rIns="0" bIns="0" rtlCol="0" anchor="t"/>
          <a:lstStyle/>
          <a:p>
            <a:pPr marL="0" indent="0">
              <a:buNone/>
            </a:pPr>
            <a:r>
              <a:rPr lang="en-US" sz="1400" b="1" dirty="0">
                <a:solidFill>
                  <a:schemeClr val="bg1"/>
                </a:solidFill>
              </a:rPr>
              <a:t>ProtocolX</a:t>
            </a:r>
            <a:endParaRPr lang="en-US" sz="1400" dirty="0"/>
          </a:p>
        </p:txBody>
      </p:sp>
      <p:sp>
        <p:nvSpPr>
          <p:cNvPr id="8" name="Info card 2"/>
          <p:cNvSpPr/>
          <p:nvPr/>
        </p:nvSpPr>
        <p:spPr>
          <a:xfrm>
            <a:off x="2514600" y="4754880"/>
            <a:ext cx="1645920" cy="1005840"/>
          </a:xfrm>
          <a:prstGeom prst="roundRect">
            <a:avLst>
              <a:gd name="adj" fmla="val 10909"/>
            </a:avLst>
          </a:prstGeom>
          <a:solidFill>
            <a:schemeClr val="tx2"/>
          </a:solidFill>
          <a:ln/>
        </p:spPr>
      </p:sp>
      <p:sp>
        <p:nvSpPr>
          <p:cNvPr id="9" name="Text 7"/>
          <p:cNvSpPr txBox="1"/>
          <p:nvPr/>
        </p:nvSpPr>
        <p:spPr>
          <a:xfrm>
            <a:off x="2651760" y="4864608"/>
            <a:ext cx="1371600" cy="274320"/>
          </a:xfrm>
          <a:prstGeom prst="rect">
            <a:avLst/>
          </a:prstGeom>
          <a:noFill/>
          <a:ln/>
        </p:spPr>
        <p:txBody>
          <a:bodyPr wrap="square" lIns="0" tIns="0" rIns="0" bIns="0" rtlCol="0" anchor="t"/>
          <a:lstStyle/>
          <a:p>
            <a:pPr marL="0" indent="0">
              <a:buNone/>
            </a:pPr>
            <a:r>
              <a:rPr lang="en-US" sz="1100" b="1" dirty="0">
                <a:solidFill>
                  <a:schemeClr val="bg2"/>
                </a:solidFill>
              </a:rPr>
              <a:t>TEAM ID</a:t>
            </a:r>
            <a:endParaRPr lang="en-US" sz="1100" dirty="0"/>
          </a:p>
        </p:txBody>
      </p:sp>
      <p:sp>
        <p:nvSpPr>
          <p:cNvPr id="10" name="Text 8"/>
          <p:cNvSpPr txBox="1"/>
          <p:nvPr/>
        </p:nvSpPr>
        <p:spPr>
          <a:xfrm>
            <a:off x="2651760" y="5212080"/>
            <a:ext cx="1371600" cy="365760"/>
          </a:xfrm>
          <a:prstGeom prst="rect">
            <a:avLst/>
          </a:prstGeom>
          <a:noFill/>
          <a:ln/>
        </p:spPr>
        <p:txBody>
          <a:bodyPr wrap="square" lIns="0" tIns="0" rIns="0" bIns="0" rtlCol="0" anchor="t"/>
          <a:lstStyle/>
          <a:p>
            <a:pPr marL="0" indent="0">
              <a:buNone/>
            </a:pPr>
            <a:r>
              <a:rPr lang="en-US" sz="1400" dirty="0">
                <a:solidFill>
                  <a:schemeClr val="bg1"/>
                </a:solidFill>
              </a:rPr>
              <a:t>CBC076</a:t>
            </a:r>
          </a:p>
        </p:txBody>
      </p:sp>
      <p:sp>
        <p:nvSpPr>
          <p:cNvPr id="11" name="Info card 3"/>
          <p:cNvSpPr/>
          <p:nvPr/>
        </p:nvSpPr>
        <p:spPr>
          <a:xfrm>
            <a:off x="4297680" y="4754880"/>
            <a:ext cx="1645920" cy="1005840"/>
          </a:xfrm>
          <a:prstGeom prst="roundRect">
            <a:avLst>
              <a:gd name="adj" fmla="val 10909"/>
            </a:avLst>
          </a:prstGeom>
          <a:solidFill>
            <a:schemeClr val="tx2"/>
          </a:solidFill>
          <a:ln/>
        </p:spPr>
      </p:sp>
      <p:sp>
        <p:nvSpPr>
          <p:cNvPr id="12" name="Text 10"/>
          <p:cNvSpPr txBox="1"/>
          <p:nvPr/>
        </p:nvSpPr>
        <p:spPr>
          <a:xfrm>
            <a:off x="4434840" y="4864608"/>
            <a:ext cx="1371600" cy="274320"/>
          </a:xfrm>
          <a:prstGeom prst="rect">
            <a:avLst/>
          </a:prstGeom>
          <a:noFill/>
          <a:ln/>
        </p:spPr>
        <p:txBody>
          <a:bodyPr wrap="square" lIns="0" tIns="0" rIns="0" bIns="0" rtlCol="0" anchor="t"/>
          <a:lstStyle/>
          <a:p>
            <a:pPr marL="0" indent="0">
              <a:buNone/>
            </a:pPr>
            <a:r>
              <a:rPr lang="en-US" sz="1100" b="1" dirty="0">
                <a:solidFill>
                  <a:schemeClr val="bg2"/>
                </a:solidFill>
              </a:rPr>
              <a:t>DOMAIN</a:t>
            </a:r>
            <a:endParaRPr lang="en-US" sz="1100" dirty="0"/>
          </a:p>
        </p:txBody>
      </p:sp>
      <p:sp>
        <p:nvSpPr>
          <p:cNvPr id="13" name="Text 11"/>
          <p:cNvSpPr txBox="1"/>
          <p:nvPr/>
        </p:nvSpPr>
        <p:spPr>
          <a:xfrm>
            <a:off x="4434840" y="5212080"/>
            <a:ext cx="1371600" cy="365760"/>
          </a:xfrm>
          <a:prstGeom prst="rect">
            <a:avLst/>
          </a:prstGeom>
          <a:noFill/>
          <a:ln/>
        </p:spPr>
        <p:txBody>
          <a:bodyPr wrap="square" lIns="0" tIns="0" rIns="0" bIns="0" rtlCol="0" anchor="t"/>
          <a:lstStyle/>
          <a:p>
            <a:pPr marL="0" indent="0">
              <a:buNone/>
            </a:pPr>
            <a:r>
              <a:rPr lang="en-US" sz="1400" b="1" dirty="0">
                <a:solidFill>
                  <a:schemeClr val="bg1"/>
                </a:solidFill>
              </a:rPr>
              <a:t>AI &amp; ML</a:t>
            </a:r>
            <a:endParaRPr lang="en-US" sz="1400" dirty="0"/>
          </a:p>
        </p:txBody>
      </p:sp>
      <p:sp>
        <p:nvSpPr>
          <p:cNvPr id="14" name="Info card 4"/>
          <p:cNvSpPr/>
          <p:nvPr/>
        </p:nvSpPr>
        <p:spPr>
          <a:xfrm>
            <a:off x="6080760" y="4754880"/>
            <a:ext cx="1645920" cy="1005840"/>
          </a:xfrm>
          <a:prstGeom prst="roundRect">
            <a:avLst>
              <a:gd name="adj" fmla="val 10909"/>
            </a:avLst>
          </a:prstGeom>
          <a:solidFill>
            <a:schemeClr val="tx2"/>
          </a:solidFill>
          <a:ln/>
        </p:spPr>
      </p:sp>
      <p:sp>
        <p:nvSpPr>
          <p:cNvPr id="15" name="Text 13"/>
          <p:cNvSpPr txBox="1"/>
          <p:nvPr/>
        </p:nvSpPr>
        <p:spPr>
          <a:xfrm>
            <a:off x="6217920" y="4864608"/>
            <a:ext cx="1371600" cy="274320"/>
          </a:xfrm>
          <a:prstGeom prst="rect">
            <a:avLst/>
          </a:prstGeom>
          <a:noFill/>
          <a:ln/>
        </p:spPr>
        <p:txBody>
          <a:bodyPr wrap="square" lIns="0" tIns="0" rIns="0" bIns="0" rtlCol="0" anchor="t"/>
          <a:lstStyle/>
          <a:p>
            <a:pPr marL="0" indent="0">
              <a:buNone/>
            </a:pPr>
            <a:r>
              <a:rPr lang="en-US" sz="1100" b="1" dirty="0">
                <a:solidFill>
                  <a:schemeClr val="bg2"/>
                </a:solidFill>
              </a:rPr>
              <a:t>COLLEGE</a:t>
            </a:r>
            <a:endParaRPr lang="en-US" sz="1100" dirty="0"/>
          </a:p>
        </p:txBody>
      </p:sp>
      <p:sp>
        <p:nvSpPr>
          <p:cNvPr id="16" name="Text 14"/>
          <p:cNvSpPr txBox="1"/>
          <p:nvPr/>
        </p:nvSpPr>
        <p:spPr>
          <a:xfrm>
            <a:off x="6217920" y="5212080"/>
            <a:ext cx="1371600" cy="365760"/>
          </a:xfrm>
          <a:prstGeom prst="rect">
            <a:avLst/>
          </a:prstGeom>
          <a:noFill/>
          <a:ln/>
        </p:spPr>
        <p:txBody>
          <a:bodyPr wrap="square" lIns="0" tIns="0" rIns="0" bIns="0" rtlCol="0" anchor="t"/>
          <a:lstStyle/>
          <a:p>
            <a:pPr marL="0" indent="0">
              <a:buNone/>
            </a:pPr>
            <a:r>
              <a:rPr lang="en-US" sz="1400" b="1" dirty="0">
                <a:solidFill>
                  <a:schemeClr val="bg1"/>
                </a:solidFill>
              </a:rPr>
              <a:t>GAT and RNSIT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548640" y="365760"/>
            <a:ext cx="10058400" cy="822960"/>
          </a:xfrm>
          <a:prstGeom prst="rect">
            <a:avLst/>
          </a:prstGeom>
          <a:noFill/>
          <a:ln/>
        </p:spPr>
        <p:txBody>
          <a:bodyPr wrap="square" lIns="0" tIns="0" rIns="0" bIns="0" rtlCol="0" anchor="ctr"/>
          <a:lstStyle/>
          <a:p>
            <a:pPr marL="0" indent="0" algn="l">
              <a:buNone/>
            </a:pPr>
            <a:r>
              <a:rPr lang="en-US" sz="3600" b="1" dirty="0">
                <a:solidFill>
                  <a:schemeClr val="bg1"/>
                </a:solidFill>
              </a:rPr>
              <a:t>Problem Statement</a:t>
            </a:r>
            <a:endParaRPr lang="en-US" sz="3600" dirty="0"/>
          </a:p>
        </p:txBody>
      </p:sp>
      <p:sp>
        <p:nvSpPr>
          <p:cNvPr id="4" name="Problem statement card"/>
          <p:cNvSpPr/>
          <p:nvPr/>
        </p:nvSpPr>
        <p:spPr>
          <a:xfrm>
            <a:off x="548640" y="1554480"/>
            <a:ext cx="7498080" cy="4389120"/>
          </a:xfrm>
          <a:prstGeom prst="roundRect">
            <a:avLst>
              <a:gd name="adj" fmla="val 2500"/>
            </a:avLst>
          </a:prstGeom>
          <a:solidFill>
            <a:schemeClr val="tx2"/>
          </a:solidFill>
          <a:ln/>
        </p:spPr>
      </p:sp>
      <p:sp>
        <p:nvSpPr>
          <p:cNvPr id="5" name="Clipboard icon circle"/>
          <p:cNvSpPr/>
          <p:nvPr/>
        </p:nvSpPr>
        <p:spPr>
          <a:xfrm>
            <a:off x="868680" y="1828800"/>
            <a:ext cx="731520" cy="731520"/>
          </a:xfrm>
          <a:prstGeom prst="ellipse">
            <a:avLst/>
          </a:prstGeom>
          <a:solidFill>
            <a:schemeClr val="accent2"/>
          </a:solidFill>
          <a:ln/>
        </p:spPr>
      </p:sp>
      <p:pic>
        <p:nvPicPr>
          <p:cNvPr id="6" name="Clipboard icon" descr="Clipboard icon"/>
          <p:cNvPicPr>
            <a:picLocks noChangeAspect="1"/>
          </p:cNvPicPr>
          <p:nvPr/>
        </p:nvPicPr>
        <p:blipFill>
          <a:blip r:embed="rId3"/>
          <a:stretch>
            <a:fillRect/>
          </a:stretch>
        </p:blipFill>
        <p:spPr>
          <a:xfrm>
            <a:off x="1058875" y="2018995"/>
            <a:ext cx="351130" cy="351130"/>
          </a:xfrm>
          <a:prstGeom prst="rect">
            <a:avLst/>
          </a:prstGeom>
        </p:spPr>
      </p:pic>
      <p:sp>
        <p:nvSpPr>
          <p:cNvPr id="7" name="Text 3"/>
          <p:cNvSpPr txBox="1"/>
          <p:nvPr/>
        </p:nvSpPr>
        <p:spPr>
          <a:xfrm>
            <a:off x="1828800" y="2011680"/>
            <a:ext cx="5669280" cy="365760"/>
          </a:xfrm>
          <a:prstGeom prst="rect">
            <a:avLst/>
          </a:prstGeom>
          <a:noFill/>
          <a:ln/>
        </p:spPr>
        <p:txBody>
          <a:bodyPr wrap="square" lIns="0" tIns="0" rIns="0" bIns="0" rtlCol="0" anchor="t"/>
          <a:lstStyle/>
          <a:p>
            <a:pPr marL="0" indent="0">
              <a:buNone/>
            </a:pPr>
            <a:r>
              <a:rPr lang="en-US" sz="1600" b="1" kern="0" spc="200" dirty="0">
                <a:solidFill>
                  <a:schemeClr val="accent4"/>
                </a:solidFill>
              </a:rPr>
              <a:t>PROBLEM STATEMENT (AS GIVEN)</a:t>
            </a:r>
            <a:endParaRPr lang="en-US" sz="1600" dirty="0"/>
          </a:p>
        </p:txBody>
      </p:sp>
      <p:sp>
        <p:nvSpPr>
          <p:cNvPr id="8" name="Text 4"/>
          <p:cNvSpPr txBox="1"/>
          <p:nvPr/>
        </p:nvSpPr>
        <p:spPr>
          <a:xfrm>
            <a:off x="868680" y="2926080"/>
            <a:ext cx="6858000" cy="2651760"/>
          </a:xfrm>
          <a:prstGeom prst="rect">
            <a:avLst/>
          </a:prstGeom>
          <a:noFill/>
          <a:ln/>
        </p:spPr>
        <p:txBody>
          <a:bodyPr wrap="square" lIns="0" tIns="0" rIns="0" bIns="0" rtlCol="0" anchor="t"/>
          <a:lstStyle/>
          <a:p>
            <a:pPr marL="0" indent="0">
              <a:buNone/>
            </a:pPr>
            <a:r>
              <a:rPr lang="en-US" sz="1600" dirty="0">
                <a:solidFill>
                  <a:schemeClr val="bg1"/>
                </a:solidFill>
              </a:rPr>
              <a:t>AI-Powered Text Similarity &amp; Plagiarism Indicator</a:t>
            </a:r>
            <a:endParaRPr lang="en-US" sz="2200" dirty="0"/>
          </a:p>
          <a:p>
            <a:pPr marL="0" indent="0">
              <a:buNone/>
            </a:pPr>
            <a:r>
              <a:rPr lang="en-US" sz="1600" dirty="0">
                <a:solidFill>
                  <a:schemeClr val="bg1"/>
                </a:solidFill>
              </a:rPr>
              <a:t>Problem: Educational and professional organizations need to identify potentially copied or highly similar content. Exact word matching alone can miss paraphrased content.</a:t>
            </a:r>
            <a:endParaRPr lang="en-US" sz="2200" dirty="0"/>
          </a:p>
          <a:p>
            <a:pPr marL="0" indent="0">
              <a:buNone/>
            </a:pPr>
            <a:r>
              <a:rPr lang="en-US" sz="1600" dirty="0">
                <a:solidFill>
                  <a:schemeClr val="bg1"/>
                </a:solidFill>
              </a:rPr>
              <a:t>Objective: Build a system that identifies potentially similar submissions and provides evidence for human review.</a:t>
            </a:r>
            <a:endParaRPr lang="en-US" sz="2200" dirty="0"/>
          </a:p>
        </p:txBody>
      </p:sp>
      <p:sp>
        <p:nvSpPr>
          <p:cNvPr id="9" name="Meta card 1"/>
          <p:cNvSpPr/>
          <p:nvPr/>
        </p:nvSpPr>
        <p:spPr>
          <a:xfrm>
            <a:off x="8412480" y="1554480"/>
            <a:ext cx="3227832" cy="1371600"/>
          </a:xfrm>
          <a:prstGeom prst="roundRect">
            <a:avLst>
              <a:gd name="adj" fmla="val 8000"/>
            </a:avLst>
          </a:prstGeom>
          <a:solidFill>
            <a:schemeClr val="accent1"/>
          </a:solidFill>
          <a:ln/>
        </p:spPr>
      </p:sp>
      <p:sp>
        <p:nvSpPr>
          <p:cNvPr id="10" name="Text 6"/>
          <p:cNvSpPr txBox="1"/>
          <p:nvPr/>
        </p:nvSpPr>
        <p:spPr>
          <a:xfrm>
            <a:off x="8641080" y="1783080"/>
            <a:ext cx="2743200" cy="274320"/>
          </a:xfrm>
          <a:prstGeom prst="rect">
            <a:avLst/>
          </a:prstGeom>
          <a:noFill/>
          <a:ln/>
        </p:spPr>
        <p:txBody>
          <a:bodyPr wrap="square" lIns="0" tIns="0" rIns="0" bIns="0" rtlCol="0" anchor="t"/>
          <a:lstStyle/>
          <a:p>
            <a:pPr marL="0" indent="0">
              <a:buNone/>
            </a:pPr>
            <a:r>
              <a:rPr lang="en-US" sz="1200" b="1" kern="0" spc="100" dirty="0">
                <a:solidFill>
                  <a:schemeClr val="bg2"/>
                </a:solidFill>
              </a:rPr>
              <a:t>PROBLEM ID</a:t>
            </a:r>
            <a:endParaRPr lang="en-US" sz="1200" dirty="0"/>
          </a:p>
        </p:txBody>
      </p:sp>
      <p:sp>
        <p:nvSpPr>
          <p:cNvPr id="11" name="Text 7"/>
          <p:cNvSpPr txBox="1"/>
          <p:nvPr/>
        </p:nvSpPr>
        <p:spPr>
          <a:xfrm>
            <a:off x="8641080" y="2148840"/>
            <a:ext cx="2834640" cy="640080"/>
          </a:xfrm>
          <a:prstGeom prst="rect">
            <a:avLst/>
          </a:prstGeom>
          <a:noFill/>
          <a:ln/>
        </p:spPr>
        <p:txBody>
          <a:bodyPr wrap="square" lIns="0" tIns="0" rIns="0" bIns="0" rtlCol="0" anchor="t"/>
          <a:lstStyle/>
          <a:p>
            <a:pPr marL="0" indent="0">
              <a:buNone/>
            </a:pPr>
            <a:r>
              <a:rPr lang="en-US" sz="1800" b="1" dirty="0">
                <a:solidFill>
                  <a:schemeClr val="bg1"/>
                </a:solidFill>
              </a:rPr>
              <a:t>PS-20</a:t>
            </a:r>
            <a:endParaRPr lang="en-US" sz="1800" dirty="0"/>
          </a:p>
        </p:txBody>
      </p:sp>
      <p:sp>
        <p:nvSpPr>
          <p:cNvPr id="12" name="Meta card 2"/>
          <p:cNvSpPr/>
          <p:nvPr/>
        </p:nvSpPr>
        <p:spPr>
          <a:xfrm>
            <a:off x="8412480" y="3063240"/>
            <a:ext cx="3227832" cy="1371600"/>
          </a:xfrm>
          <a:prstGeom prst="roundRect">
            <a:avLst>
              <a:gd name="adj" fmla="val 8000"/>
            </a:avLst>
          </a:prstGeom>
          <a:solidFill>
            <a:schemeClr val="accent1"/>
          </a:solidFill>
          <a:ln/>
        </p:spPr>
      </p:sp>
      <p:sp>
        <p:nvSpPr>
          <p:cNvPr id="13" name="Text 9"/>
          <p:cNvSpPr txBox="1"/>
          <p:nvPr/>
        </p:nvSpPr>
        <p:spPr>
          <a:xfrm>
            <a:off x="8641080" y="3291840"/>
            <a:ext cx="2743200" cy="274320"/>
          </a:xfrm>
          <a:prstGeom prst="rect">
            <a:avLst/>
          </a:prstGeom>
          <a:noFill/>
          <a:ln/>
        </p:spPr>
        <p:txBody>
          <a:bodyPr wrap="square" lIns="0" tIns="0" rIns="0" bIns="0" rtlCol="0" anchor="t"/>
          <a:lstStyle/>
          <a:p>
            <a:pPr marL="0" indent="0">
              <a:buNone/>
            </a:pPr>
            <a:r>
              <a:rPr lang="en-US" sz="1200" b="1" kern="0" spc="100" dirty="0">
                <a:solidFill>
                  <a:schemeClr val="bg2"/>
                </a:solidFill>
              </a:rPr>
              <a:t>DOMAIN</a:t>
            </a:r>
            <a:endParaRPr lang="en-US" sz="1200" dirty="0"/>
          </a:p>
        </p:txBody>
      </p:sp>
      <p:sp>
        <p:nvSpPr>
          <p:cNvPr id="14" name="Text 10"/>
          <p:cNvSpPr txBox="1"/>
          <p:nvPr/>
        </p:nvSpPr>
        <p:spPr>
          <a:xfrm>
            <a:off x="8641080" y="3657600"/>
            <a:ext cx="2834640" cy="640080"/>
          </a:xfrm>
          <a:prstGeom prst="rect">
            <a:avLst/>
          </a:prstGeom>
          <a:noFill/>
          <a:ln/>
        </p:spPr>
        <p:txBody>
          <a:bodyPr wrap="square" lIns="0" tIns="0" rIns="0" bIns="0" rtlCol="0" anchor="t"/>
          <a:lstStyle/>
          <a:p>
            <a:pPr marL="0" indent="0">
              <a:buNone/>
            </a:pPr>
            <a:r>
              <a:rPr lang="en-US" sz="1800" b="1" dirty="0">
                <a:solidFill>
                  <a:schemeClr val="bg1"/>
                </a:solidFill>
              </a:rPr>
              <a:t>AI &amp; ML</a:t>
            </a:r>
            <a:endParaRPr lang="en-US" sz="1800" dirty="0"/>
          </a:p>
        </p:txBody>
      </p:sp>
      <p:sp>
        <p:nvSpPr>
          <p:cNvPr id="15" name="Meta card 3"/>
          <p:cNvSpPr/>
          <p:nvPr/>
        </p:nvSpPr>
        <p:spPr>
          <a:xfrm>
            <a:off x="8412480" y="4572000"/>
            <a:ext cx="3227832" cy="1371600"/>
          </a:xfrm>
          <a:prstGeom prst="roundRect">
            <a:avLst>
              <a:gd name="adj" fmla="val 8000"/>
            </a:avLst>
          </a:prstGeom>
          <a:solidFill>
            <a:schemeClr val="accent1"/>
          </a:solidFill>
          <a:ln/>
        </p:spPr>
      </p:sp>
      <p:sp>
        <p:nvSpPr>
          <p:cNvPr id="16" name="Text 12"/>
          <p:cNvSpPr txBox="1"/>
          <p:nvPr/>
        </p:nvSpPr>
        <p:spPr>
          <a:xfrm>
            <a:off x="8641080" y="4800600"/>
            <a:ext cx="2743200" cy="274320"/>
          </a:xfrm>
          <a:prstGeom prst="rect">
            <a:avLst/>
          </a:prstGeom>
          <a:noFill/>
          <a:ln/>
        </p:spPr>
        <p:txBody>
          <a:bodyPr wrap="square" lIns="0" tIns="0" rIns="0" bIns="0" rtlCol="0" anchor="t"/>
          <a:lstStyle/>
          <a:p>
            <a:pPr marL="0" indent="0">
              <a:buNone/>
            </a:pPr>
            <a:r>
              <a:rPr lang="en-US" sz="1200" b="1" kern="0" spc="100" dirty="0">
                <a:solidFill>
                  <a:schemeClr val="bg2"/>
                </a:solidFill>
              </a:rPr>
              <a:t>OUR FOCUS</a:t>
            </a:r>
            <a:endParaRPr lang="en-US" sz="1200" dirty="0"/>
          </a:p>
        </p:txBody>
      </p:sp>
      <p:sp>
        <p:nvSpPr>
          <p:cNvPr id="17" name="Text 13"/>
          <p:cNvSpPr txBox="1"/>
          <p:nvPr/>
        </p:nvSpPr>
        <p:spPr>
          <a:xfrm>
            <a:off x="8641080" y="5166360"/>
            <a:ext cx="2834640" cy="640080"/>
          </a:xfrm>
          <a:prstGeom prst="rect">
            <a:avLst/>
          </a:prstGeom>
          <a:noFill/>
          <a:ln/>
        </p:spPr>
        <p:txBody>
          <a:bodyPr wrap="square" lIns="0" tIns="0" rIns="0" bIns="0" rtlCol="0" anchor="t"/>
          <a:lstStyle/>
          <a:p>
            <a:pPr marL="0" indent="0">
              <a:buNone/>
            </a:pPr>
            <a:r>
              <a:rPr lang="en-US" sz="1400" b="1" dirty="0">
                <a:solidFill>
                  <a:schemeClr val="bg1"/>
                </a:solidFill>
              </a:rPr>
              <a:t>Hybrid exact + semantic detection with human review</a:t>
            </a:r>
            <a:endParaRPr lang="en-US" sz="18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200">
                <a:solidFill>
                  <a:schemeClr val="bg2"/>
                </a:solidFill>
              </a:defRPr>
            </a:lvl1pPr>
          </a:lstStyle>
          <a:p>
            <a:pPr algn="r"/>
            <a:fld id="{F7021451-1387-4CA6-816F-3879F97B5CBC}" type="slidenum">
              <a:rPr lang="en-US" b="0"/>
              <a:t>2</a:t>
            </a:fld>
            <a:endParaRPr lang="en-US"/>
          </a:p>
        </p:txBody>
      </p:sp>
      <p:sp>
        <p:nvSpPr>
          <p:cNvPr id="3" name="TextBox 2">
            <a:extLst>
              <a:ext uri="{FF2B5EF4-FFF2-40B4-BE49-F238E27FC236}">
                <a16:creationId xmlns:a16="http://schemas.microsoft.com/office/drawing/2014/main" id="{F1EB3851-30FA-3EB6-7C10-304D91C53079}"/>
              </a:ext>
            </a:extLst>
          </p:cNvPr>
          <p:cNvSpPr txBox="1"/>
          <p:nvPr/>
        </p:nvSpPr>
        <p:spPr>
          <a:xfrm>
            <a:off x="3010620" y="6064370"/>
            <a:ext cx="439946" cy="923330"/>
          </a:xfrm>
          <a:prstGeom prst="rect">
            <a:avLst/>
          </a:prstGeom>
          <a:noFill/>
        </p:spPr>
        <p:txBody>
          <a:bodyPr wrap="square" rtlCol="0">
            <a:spAutoFit/>
          </a:bodyPr>
          <a:lstStyle/>
          <a:p>
            <a:r>
              <a:rPr lang="en-IN" dirty="0">
                <a:solidFill>
                  <a:schemeClr val="bg1"/>
                </a:solidFill>
              </a:rPr>
              <a:t>CBC076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365760"/>
            <a:ext cx="10058400" cy="822960"/>
          </a:xfrm>
          <a:prstGeom prst="rect">
            <a:avLst/>
          </a:prstGeom>
          <a:noFill/>
          <a:ln/>
        </p:spPr>
        <p:txBody>
          <a:bodyPr wrap="square" lIns="0" tIns="0" rIns="0" bIns="0" rtlCol="0" anchor="ctr"/>
          <a:lstStyle/>
          <a:p>
            <a:pPr marL="0" indent="0" algn="l">
              <a:buNone/>
            </a:pPr>
            <a:r>
              <a:rPr lang="en-US" sz="3600" b="1" dirty="0">
                <a:solidFill>
                  <a:schemeClr val="tx1"/>
                </a:solidFill>
              </a:rPr>
              <a:t>Understanding the Problem</a:t>
            </a:r>
            <a:endParaRPr lang="en-US" sz="3600" dirty="0"/>
          </a:p>
        </p:txBody>
      </p:sp>
      <p:sp>
        <p:nvSpPr>
          <p:cNvPr id="4" name="Card Who is affected?"/>
          <p:cNvSpPr/>
          <p:nvPr/>
        </p:nvSpPr>
        <p:spPr>
          <a:xfrm>
            <a:off x="548640" y="1554480"/>
            <a:ext cx="3630168" cy="4389120"/>
          </a:xfrm>
          <a:prstGeom prst="roundRect">
            <a:avLst>
              <a:gd name="adj" fmla="val 3023"/>
            </a:avLst>
          </a:prstGeom>
          <a:solidFill>
            <a:schemeClr val="bg2"/>
          </a:solidFill>
          <a:ln/>
        </p:spPr>
      </p:sp>
      <p:sp>
        <p:nvSpPr>
          <p:cNvPr id="5" name="Who is affected? icon circle"/>
          <p:cNvSpPr/>
          <p:nvPr/>
        </p:nvSpPr>
        <p:spPr>
          <a:xfrm>
            <a:off x="868680" y="1874520"/>
            <a:ext cx="822960" cy="822960"/>
          </a:xfrm>
          <a:prstGeom prst="ellipse">
            <a:avLst/>
          </a:prstGeom>
          <a:solidFill>
            <a:schemeClr val="accent1"/>
          </a:solidFill>
          <a:ln/>
        </p:spPr>
      </p:sp>
      <p:pic>
        <p:nvPicPr>
          <p:cNvPr id="6" name="Who is affected? icon" descr="Who is affected? icon"/>
          <p:cNvPicPr>
            <a:picLocks noChangeAspect="1"/>
          </p:cNvPicPr>
          <p:nvPr/>
        </p:nvPicPr>
        <p:blipFill>
          <a:blip r:embed="rId3"/>
          <a:stretch>
            <a:fillRect/>
          </a:stretch>
        </p:blipFill>
        <p:spPr>
          <a:xfrm>
            <a:off x="1082650" y="2088490"/>
            <a:ext cx="395021" cy="395021"/>
          </a:xfrm>
          <a:prstGeom prst="rect">
            <a:avLst/>
          </a:prstGeom>
        </p:spPr>
      </p:pic>
      <p:sp>
        <p:nvSpPr>
          <p:cNvPr id="7" name="Text 3"/>
          <p:cNvSpPr txBox="1"/>
          <p:nvPr/>
        </p:nvSpPr>
        <p:spPr>
          <a:xfrm>
            <a:off x="868680" y="2971800"/>
            <a:ext cx="3017520" cy="457200"/>
          </a:xfrm>
          <a:prstGeom prst="rect">
            <a:avLst/>
          </a:prstGeom>
          <a:noFill/>
          <a:ln/>
        </p:spPr>
        <p:txBody>
          <a:bodyPr wrap="square" lIns="0" tIns="0" rIns="0" bIns="0" rtlCol="0" anchor="t"/>
          <a:lstStyle/>
          <a:p>
            <a:pPr marL="0" indent="0">
              <a:buNone/>
            </a:pPr>
            <a:r>
              <a:rPr lang="en-US" sz="2200" b="1" dirty="0">
                <a:solidFill>
                  <a:schemeClr val="tx1"/>
                </a:solidFill>
              </a:rPr>
              <a:t>Who is affected?</a:t>
            </a:r>
            <a:endParaRPr lang="en-US" sz="2200" dirty="0"/>
          </a:p>
        </p:txBody>
      </p:sp>
      <p:sp>
        <p:nvSpPr>
          <p:cNvPr id="8" name="Text 4"/>
          <p:cNvSpPr txBox="1"/>
          <p:nvPr/>
        </p:nvSpPr>
        <p:spPr>
          <a:xfrm>
            <a:off x="868680" y="3611880"/>
            <a:ext cx="3017520" cy="201168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accent6"/>
                </a:solidFill>
              </a:rPr>
              <a:t>Teachers, professors and reviewers</a:t>
            </a:r>
            <a:endParaRPr lang="en-US" sz="1600" dirty="0"/>
          </a:p>
          <a:p>
            <a:pPr marL="342900" indent="-342900">
              <a:spcAft>
                <a:spcPts val="600"/>
              </a:spcAft>
              <a:buSzPct val="100000"/>
              <a:buChar char="•"/>
            </a:pPr>
            <a:r>
              <a:rPr lang="en-US" sz="1600" dirty="0">
                <a:solidFill>
                  <a:schemeClr val="accent6"/>
                </a:solidFill>
              </a:rPr>
              <a:t>Large batches of submissions, checked by hand</a:t>
            </a:r>
            <a:endParaRPr lang="en-US" sz="1600" dirty="0"/>
          </a:p>
          <a:p>
            <a:pPr marL="342900" indent="-342900">
              <a:spcAft>
                <a:spcPts val="600"/>
              </a:spcAft>
              <a:buSzPct val="100000"/>
              <a:buChar char="•"/>
            </a:pPr>
            <a:r>
              <a:rPr lang="en-US" sz="1600" dirty="0">
                <a:solidFill>
                  <a:schemeClr val="accent6"/>
                </a:solidFill>
              </a:rPr>
              <a:t>Assignments, exams and hiring tasks</a:t>
            </a:r>
            <a:endParaRPr lang="en-US" sz="1600" dirty="0"/>
          </a:p>
        </p:txBody>
      </p:sp>
      <p:sp>
        <p:nvSpPr>
          <p:cNvPr id="9" name="Card What is going wrong?"/>
          <p:cNvSpPr/>
          <p:nvPr/>
        </p:nvSpPr>
        <p:spPr>
          <a:xfrm>
            <a:off x="4279392" y="1554480"/>
            <a:ext cx="3630168" cy="4389120"/>
          </a:xfrm>
          <a:prstGeom prst="roundRect">
            <a:avLst>
              <a:gd name="adj" fmla="val 3023"/>
            </a:avLst>
          </a:prstGeom>
          <a:solidFill>
            <a:schemeClr val="bg2"/>
          </a:solidFill>
          <a:ln/>
        </p:spPr>
      </p:sp>
      <p:sp>
        <p:nvSpPr>
          <p:cNvPr id="10" name="What is going wrong? icon circle"/>
          <p:cNvSpPr/>
          <p:nvPr/>
        </p:nvSpPr>
        <p:spPr>
          <a:xfrm>
            <a:off x="4599432" y="1874520"/>
            <a:ext cx="822960" cy="822960"/>
          </a:xfrm>
          <a:prstGeom prst="ellipse">
            <a:avLst/>
          </a:prstGeom>
          <a:solidFill>
            <a:schemeClr val="accent2"/>
          </a:solidFill>
          <a:ln/>
        </p:spPr>
      </p:sp>
      <p:pic>
        <p:nvPicPr>
          <p:cNvPr id="11" name="What is going wrong? icon" descr="What is going wrong? icon"/>
          <p:cNvPicPr>
            <a:picLocks noChangeAspect="1"/>
          </p:cNvPicPr>
          <p:nvPr/>
        </p:nvPicPr>
        <p:blipFill>
          <a:blip r:embed="rId4"/>
          <a:stretch>
            <a:fillRect/>
          </a:stretch>
        </p:blipFill>
        <p:spPr>
          <a:xfrm>
            <a:off x="4813402" y="2088490"/>
            <a:ext cx="395021" cy="395021"/>
          </a:xfrm>
          <a:prstGeom prst="rect">
            <a:avLst/>
          </a:prstGeom>
        </p:spPr>
      </p:pic>
      <p:sp>
        <p:nvSpPr>
          <p:cNvPr id="12" name="Text 7"/>
          <p:cNvSpPr txBox="1"/>
          <p:nvPr/>
        </p:nvSpPr>
        <p:spPr>
          <a:xfrm>
            <a:off x="4599432" y="2971800"/>
            <a:ext cx="3017520" cy="457200"/>
          </a:xfrm>
          <a:prstGeom prst="rect">
            <a:avLst/>
          </a:prstGeom>
          <a:noFill/>
          <a:ln/>
        </p:spPr>
        <p:txBody>
          <a:bodyPr wrap="square" lIns="0" tIns="0" rIns="0" bIns="0" rtlCol="0" anchor="t"/>
          <a:lstStyle/>
          <a:p>
            <a:pPr marL="0" indent="0">
              <a:buNone/>
            </a:pPr>
            <a:r>
              <a:rPr lang="en-US" sz="2200" b="1" dirty="0">
                <a:solidFill>
                  <a:schemeClr val="tx1"/>
                </a:solidFill>
              </a:rPr>
              <a:t>What is going wrong?</a:t>
            </a:r>
            <a:endParaRPr lang="en-US" sz="2200" dirty="0"/>
          </a:p>
        </p:txBody>
      </p:sp>
      <p:sp>
        <p:nvSpPr>
          <p:cNvPr id="13" name="Text 8"/>
          <p:cNvSpPr txBox="1"/>
          <p:nvPr/>
        </p:nvSpPr>
        <p:spPr>
          <a:xfrm>
            <a:off x="4599432" y="3611880"/>
            <a:ext cx="3017520" cy="201168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accent6"/>
                </a:solidFill>
              </a:rPr>
              <a:t>Paraphrased copying slips past word matching</a:t>
            </a:r>
            <a:endParaRPr lang="en-US" sz="1600" dirty="0"/>
          </a:p>
          <a:p>
            <a:pPr marL="342900" indent="-342900">
              <a:spcAft>
                <a:spcPts val="600"/>
              </a:spcAft>
              <a:buSzPct val="100000"/>
              <a:buChar char="•"/>
            </a:pPr>
            <a:r>
              <a:rPr lang="en-US" sz="1600" dirty="0">
                <a:solidFill>
                  <a:schemeClr val="accent6"/>
                </a:solidFill>
              </a:rPr>
              <a:t>Same-topic answers look falsely similar</a:t>
            </a:r>
            <a:endParaRPr lang="en-US" sz="1600" dirty="0"/>
          </a:p>
          <a:p>
            <a:pPr marL="342900" indent="-342900">
              <a:spcAft>
                <a:spcPts val="600"/>
              </a:spcAft>
              <a:buSzPct val="100000"/>
              <a:buChar char="•"/>
            </a:pPr>
            <a:r>
              <a:rPr lang="en-US" sz="1600" dirty="0">
                <a:solidFill>
                  <a:schemeClr val="accent6"/>
                </a:solidFill>
              </a:rPr>
              <a:t>Tools show a score but no evidence</a:t>
            </a:r>
            <a:endParaRPr lang="en-US" sz="1600" dirty="0"/>
          </a:p>
        </p:txBody>
      </p:sp>
      <p:sp>
        <p:nvSpPr>
          <p:cNvPr id="14" name="Card Why does it matter?"/>
          <p:cNvSpPr/>
          <p:nvPr/>
        </p:nvSpPr>
        <p:spPr>
          <a:xfrm>
            <a:off x="8010144" y="1554480"/>
            <a:ext cx="3630168" cy="4389120"/>
          </a:xfrm>
          <a:prstGeom prst="roundRect">
            <a:avLst>
              <a:gd name="adj" fmla="val 3023"/>
            </a:avLst>
          </a:prstGeom>
          <a:solidFill>
            <a:schemeClr val="bg2"/>
          </a:solidFill>
          <a:ln/>
        </p:spPr>
      </p:sp>
      <p:sp>
        <p:nvSpPr>
          <p:cNvPr id="15" name="Why does it matter? icon circle"/>
          <p:cNvSpPr/>
          <p:nvPr/>
        </p:nvSpPr>
        <p:spPr>
          <a:xfrm>
            <a:off x="8330184" y="1874520"/>
            <a:ext cx="822960" cy="822960"/>
          </a:xfrm>
          <a:prstGeom prst="ellipse">
            <a:avLst/>
          </a:prstGeom>
          <a:solidFill>
            <a:schemeClr val="accent3"/>
          </a:solidFill>
          <a:ln/>
        </p:spPr>
      </p:sp>
      <p:pic>
        <p:nvPicPr>
          <p:cNvPr id="16" name="Why does it matter? icon" descr="Why does it matter? icon"/>
          <p:cNvPicPr>
            <a:picLocks noChangeAspect="1"/>
          </p:cNvPicPr>
          <p:nvPr/>
        </p:nvPicPr>
        <p:blipFill>
          <a:blip r:embed="rId5"/>
          <a:stretch>
            <a:fillRect/>
          </a:stretch>
        </p:blipFill>
        <p:spPr>
          <a:xfrm>
            <a:off x="8544154" y="2088490"/>
            <a:ext cx="395021" cy="395021"/>
          </a:xfrm>
          <a:prstGeom prst="rect">
            <a:avLst/>
          </a:prstGeom>
        </p:spPr>
      </p:pic>
      <p:sp>
        <p:nvSpPr>
          <p:cNvPr id="17" name="Text 11"/>
          <p:cNvSpPr txBox="1"/>
          <p:nvPr/>
        </p:nvSpPr>
        <p:spPr>
          <a:xfrm>
            <a:off x="8330184" y="2971800"/>
            <a:ext cx="3017520" cy="457200"/>
          </a:xfrm>
          <a:prstGeom prst="rect">
            <a:avLst/>
          </a:prstGeom>
          <a:noFill/>
          <a:ln/>
        </p:spPr>
        <p:txBody>
          <a:bodyPr wrap="square" lIns="0" tIns="0" rIns="0" bIns="0" rtlCol="0" anchor="t"/>
          <a:lstStyle/>
          <a:p>
            <a:pPr marL="0" indent="0">
              <a:buNone/>
            </a:pPr>
            <a:r>
              <a:rPr lang="en-US" sz="2200" b="1" dirty="0">
                <a:solidFill>
                  <a:schemeClr val="tx1"/>
                </a:solidFill>
              </a:rPr>
              <a:t>Why does it matter?</a:t>
            </a:r>
            <a:endParaRPr lang="en-US" sz="2200" dirty="0"/>
          </a:p>
        </p:txBody>
      </p:sp>
      <p:sp>
        <p:nvSpPr>
          <p:cNvPr id="18" name="Text 12"/>
          <p:cNvSpPr txBox="1"/>
          <p:nvPr/>
        </p:nvSpPr>
        <p:spPr>
          <a:xfrm>
            <a:off x="8330184" y="3611880"/>
            <a:ext cx="3017520" cy="201168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accent6"/>
                </a:solidFill>
              </a:rPr>
              <a:t>A false flag unfairly harms a student</a:t>
            </a:r>
            <a:endParaRPr lang="en-US" sz="1600" dirty="0"/>
          </a:p>
          <a:p>
            <a:pPr marL="342900" indent="-342900">
              <a:spcAft>
                <a:spcPts val="600"/>
              </a:spcAft>
              <a:buSzPct val="100000"/>
              <a:buChar char="•"/>
            </a:pPr>
            <a:r>
              <a:rPr lang="en-US" sz="1600" dirty="0">
                <a:solidFill>
                  <a:schemeClr val="accent6"/>
                </a:solidFill>
              </a:rPr>
              <a:t>Manual review wastes hours of reviewer time</a:t>
            </a:r>
            <a:endParaRPr lang="en-US" sz="1600" dirty="0"/>
          </a:p>
          <a:p>
            <a:pPr marL="342900" indent="-342900">
              <a:spcAft>
                <a:spcPts val="600"/>
              </a:spcAft>
              <a:buSzPct val="100000"/>
              <a:buChar char="•"/>
            </a:pPr>
            <a:r>
              <a:rPr lang="en-US" sz="1600" dirty="0">
                <a:solidFill>
                  <a:schemeClr val="accent6"/>
                </a:solidFill>
              </a:rPr>
              <a:t>AI paraphrasing makes copying easier now</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2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365760"/>
            <a:ext cx="10058400" cy="822960"/>
          </a:xfrm>
          <a:prstGeom prst="rect">
            <a:avLst/>
          </a:prstGeom>
          <a:noFill/>
          <a:ln/>
        </p:spPr>
        <p:txBody>
          <a:bodyPr wrap="square" lIns="0" tIns="0" rIns="0" bIns="0" rtlCol="0" anchor="ctr"/>
          <a:lstStyle/>
          <a:p>
            <a:pPr marL="0" indent="0" algn="l">
              <a:buNone/>
            </a:pPr>
            <a:r>
              <a:rPr lang="en-US" sz="3600" b="1" dirty="0">
                <a:solidFill>
                  <a:schemeClr val="tx1"/>
                </a:solidFill>
              </a:rPr>
              <a:t>Our Proposed Solution</a:t>
            </a:r>
            <a:endParaRPr lang="en-US" sz="3600" dirty="0"/>
          </a:p>
        </p:txBody>
      </p:sp>
      <p:sp>
        <p:nvSpPr>
          <p:cNvPr id="4" name="Solution statement card"/>
          <p:cNvSpPr/>
          <p:nvPr/>
        </p:nvSpPr>
        <p:spPr>
          <a:xfrm>
            <a:off x="548640" y="1554480"/>
            <a:ext cx="5029200" cy="4389120"/>
          </a:xfrm>
          <a:prstGeom prst="roundRect">
            <a:avLst>
              <a:gd name="adj" fmla="val 2500"/>
            </a:avLst>
          </a:prstGeom>
          <a:solidFill>
            <a:schemeClr val="accent1"/>
          </a:solidFill>
          <a:ln/>
        </p:spPr>
      </p:sp>
      <p:sp>
        <p:nvSpPr>
          <p:cNvPr id="5" name="Bulb icon circle"/>
          <p:cNvSpPr/>
          <p:nvPr/>
        </p:nvSpPr>
        <p:spPr>
          <a:xfrm>
            <a:off x="868680" y="1828800"/>
            <a:ext cx="822960" cy="822960"/>
          </a:xfrm>
          <a:prstGeom prst="ellipse">
            <a:avLst/>
          </a:prstGeom>
          <a:solidFill>
            <a:schemeClr val="accent4"/>
          </a:solidFill>
          <a:ln/>
        </p:spPr>
      </p:sp>
      <p:pic>
        <p:nvPicPr>
          <p:cNvPr id="6" name="Bulb icon" descr="Bulb icon"/>
          <p:cNvPicPr>
            <a:picLocks noChangeAspect="1"/>
          </p:cNvPicPr>
          <p:nvPr/>
        </p:nvPicPr>
        <p:blipFill>
          <a:blip r:embed="rId3"/>
          <a:stretch>
            <a:fillRect/>
          </a:stretch>
        </p:blipFill>
        <p:spPr>
          <a:xfrm>
            <a:off x="1082650" y="2042770"/>
            <a:ext cx="395021" cy="395021"/>
          </a:xfrm>
          <a:prstGeom prst="rect">
            <a:avLst/>
          </a:prstGeom>
        </p:spPr>
      </p:pic>
      <p:sp>
        <p:nvSpPr>
          <p:cNvPr id="7" name="Text 3"/>
          <p:cNvSpPr txBox="1"/>
          <p:nvPr/>
        </p:nvSpPr>
        <p:spPr>
          <a:xfrm>
            <a:off x="868680" y="2880360"/>
            <a:ext cx="4389120" cy="320040"/>
          </a:xfrm>
          <a:prstGeom prst="rect">
            <a:avLst/>
          </a:prstGeom>
          <a:noFill/>
          <a:ln/>
        </p:spPr>
        <p:txBody>
          <a:bodyPr wrap="square" lIns="0" tIns="0" rIns="0" bIns="0" rtlCol="0" anchor="t"/>
          <a:lstStyle/>
          <a:p>
            <a:pPr marL="0" indent="0">
              <a:buNone/>
            </a:pPr>
            <a:r>
              <a:rPr lang="en-US" sz="1400" b="1" kern="0" spc="200" dirty="0">
                <a:solidFill>
                  <a:schemeClr val="bg2"/>
                </a:solidFill>
              </a:rPr>
              <a:t>THE IDEA IN ONE LINE</a:t>
            </a:r>
            <a:endParaRPr lang="en-US" sz="1400" dirty="0"/>
          </a:p>
        </p:txBody>
      </p:sp>
      <p:sp>
        <p:nvSpPr>
          <p:cNvPr id="8" name="Text 4"/>
          <p:cNvSpPr txBox="1"/>
          <p:nvPr/>
        </p:nvSpPr>
        <p:spPr>
          <a:xfrm>
            <a:off x="868680" y="3337560"/>
            <a:ext cx="4389120" cy="2377440"/>
          </a:xfrm>
          <a:prstGeom prst="rect">
            <a:avLst/>
          </a:prstGeom>
          <a:noFill/>
          <a:ln/>
        </p:spPr>
        <p:txBody>
          <a:bodyPr wrap="square" lIns="0" tIns="0" rIns="0" bIns="0" rtlCol="0" anchor="t"/>
          <a:lstStyle/>
          <a:p>
            <a:pPr marL="0" indent="0">
              <a:buNone/>
            </a:pPr>
            <a:r>
              <a:rPr lang="en-US" sz="2000" b="1" dirty="0">
                <a:solidFill>
                  <a:schemeClr val="bg1"/>
                </a:solidFill>
                <a:latin typeface="Cambria" pitchFamily="34" charset="0"/>
                <a:ea typeface="Cambria" pitchFamily="34" charset="-122"/>
                <a:cs typeface="Cambria" pitchFamily="34" charset="-120"/>
              </a:rPr>
              <a:t>We help reviewers catch copied and paraphrased work by combining exact matching with meaning-based AI and showing the evidence, unlike tools that only match words.</a:t>
            </a:r>
            <a:endParaRPr lang="en-US" sz="2400" dirty="0"/>
          </a:p>
        </p:txBody>
      </p:sp>
      <p:sp>
        <p:nvSpPr>
          <p:cNvPr id="9" name="Text 5"/>
          <p:cNvSpPr txBox="1"/>
          <p:nvPr/>
        </p:nvSpPr>
        <p:spPr>
          <a:xfrm>
            <a:off x="5943600" y="1554480"/>
            <a:ext cx="5669280" cy="411480"/>
          </a:xfrm>
          <a:prstGeom prst="rect">
            <a:avLst/>
          </a:prstGeom>
          <a:noFill/>
          <a:ln/>
        </p:spPr>
        <p:txBody>
          <a:bodyPr wrap="square" lIns="0" tIns="0" rIns="0" bIns="0" rtlCol="0" anchor="t"/>
          <a:lstStyle/>
          <a:p>
            <a:pPr marL="0" indent="0">
              <a:buNone/>
            </a:pPr>
            <a:r>
              <a:rPr lang="en-US" sz="2200" b="1" dirty="0">
                <a:solidFill>
                  <a:schemeClr val="tx1"/>
                </a:solidFill>
              </a:rPr>
              <a:t>How it works</a:t>
            </a:r>
            <a:endParaRPr lang="en-US" sz="2200" dirty="0"/>
          </a:p>
        </p:txBody>
      </p:sp>
      <p:sp>
        <p:nvSpPr>
          <p:cNvPr id="10" name="Step card 1"/>
          <p:cNvSpPr/>
          <p:nvPr/>
        </p:nvSpPr>
        <p:spPr>
          <a:xfrm>
            <a:off x="5943600" y="2103120"/>
            <a:ext cx="5696712" cy="1097280"/>
          </a:xfrm>
          <a:prstGeom prst="roundRect">
            <a:avLst>
              <a:gd name="adj" fmla="val 10000"/>
            </a:avLst>
          </a:prstGeom>
          <a:solidFill>
            <a:schemeClr val="bg2"/>
          </a:solidFill>
          <a:ln/>
        </p:spPr>
      </p:sp>
      <p:sp>
        <p:nvSpPr>
          <p:cNvPr id="11" name="Step 1 circle"/>
          <p:cNvSpPr/>
          <p:nvPr/>
        </p:nvSpPr>
        <p:spPr>
          <a:xfrm>
            <a:off x="6172200" y="2377440"/>
            <a:ext cx="548640" cy="548640"/>
          </a:xfrm>
          <a:prstGeom prst="ellipse">
            <a:avLst/>
          </a:prstGeom>
          <a:solidFill>
            <a:schemeClr val="accent2"/>
          </a:solidFill>
          <a:ln/>
        </p:spPr>
      </p:sp>
      <p:sp>
        <p:nvSpPr>
          <p:cNvPr id="12" name="Step 1"/>
          <p:cNvSpPr txBox="1"/>
          <p:nvPr/>
        </p:nvSpPr>
        <p:spPr>
          <a:xfrm>
            <a:off x="6172200" y="237744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13" name="Text 9"/>
          <p:cNvSpPr txBox="1"/>
          <p:nvPr/>
        </p:nvSpPr>
        <p:spPr>
          <a:xfrm>
            <a:off x="6949440" y="2286000"/>
            <a:ext cx="4480560" cy="365760"/>
          </a:xfrm>
          <a:prstGeom prst="rect">
            <a:avLst/>
          </a:prstGeom>
          <a:noFill/>
          <a:ln/>
        </p:spPr>
        <p:txBody>
          <a:bodyPr wrap="square" lIns="0" tIns="0" rIns="0" bIns="0" rtlCol="0" anchor="t"/>
          <a:lstStyle/>
          <a:p>
            <a:pPr marL="0" indent="0">
              <a:buNone/>
            </a:pPr>
            <a:r>
              <a:rPr lang="en-US" sz="1800" b="1" dirty="0">
                <a:solidFill>
                  <a:schemeClr val="tx1"/>
                </a:solidFill>
              </a:rPr>
              <a:t>Step 1 — Input</a:t>
            </a:r>
            <a:endParaRPr lang="en-US" sz="1800" dirty="0"/>
          </a:p>
        </p:txBody>
      </p:sp>
      <p:sp>
        <p:nvSpPr>
          <p:cNvPr id="14" name="Text 10"/>
          <p:cNvSpPr txBox="1"/>
          <p:nvPr/>
        </p:nvSpPr>
        <p:spPr>
          <a:xfrm>
            <a:off x="6949440" y="2697480"/>
            <a:ext cx="4480560" cy="365760"/>
          </a:xfrm>
          <a:prstGeom prst="rect">
            <a:avLst/>
          </a:prstGeom>
          <a:noFill/>
          <a:ln/>
        </p:spPr>
        <p:txBody>
          <a:bodyPr wrap="square" lIns="0" tIns="0" rIns="0" bIns="0" rtlCol="0" anchor="t"/>
          <a:lstStyle/>
          <a:p>
            <a:pPr marL="0" indent="0">
              <a:buNone/>
            </a:pPr>
            <a:r>
              <a:rPr lang="en-US" sz="1400" dirty="0">
                <a:solidFill>
                  <a:schemeClr val="accent6"/>
                </a:solidFill>
              </a:rPr>
              <a:t>Upload several documents or paste answers</a:t>
            </a:r>
            <a:endParaRPr lang="en-US" sz="1400" dirty="0"/>
          </a:p>
        </p:txBody>
      </p:sp>
      <p:sp>
        <p:nvSpPr>
          <p:cNvPr id="15" name="Step card 2"/>
          <p:cNvSpPr/>
          <p:nvPr/>
        </p:nvSpPr>
        <p:spPr>
          <a:xfrm>
            <a:off x="5943600" y="3383280"/>
            <a:ext cx="5696712" cy="1097280"/>
          </a:xfrm>
          <a:prstGeom prst="roundRect">
            <a:avLst>
              <a:gd name="adj" fmla="val 10000"/>
            </a:avLst>
          </a:prstGeom>
          <a:solidFill>
            <a:schemeClr val="bg2"/>
          </a:solidFill>
          <a:ln/>
        </p:spPr>
      </p:sp>
      <p:sp>
        <p:nvSpPr>
          <p:cNvPr id="16" name="Step 2 circle"/>
          <p:cNvSpPr/>
          <p:nvPr/>
        </p:nvSpPr>
        <p:spPr>
          <a:xfrm>
            <a:off x="6172200" y="3657600"/>
            <a:ext cx="548640" cy="548640"/>
          </a:xfrm>
          <a:prstGeom prst="ellipse">
            <a:avLst/>
          </a:prstGeom>
          <a:solidFill>
            <a:schemeClr val="accent2"/>
          </a:solidFill>
          <a:ln/>
        </p:spPr>
      </p:sp>
      <p:sp>
        <p:nvSpPr>
          <p:cNvPr id="17" name="Step 2"/>
          <p:cNvSpPr txBox="1"/>
          <p:nvPr/>
        </p:nvSpPr>
        <p:spPr>
          <a:xfrm>
            <a:off x="6172200" y="365760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8" name="Text 14"/>
          <p:cNvSpPr txBox="1"/>
          <p:nvPr/>
        </p:nvSpPr>
        <p:spPr>
          <a:xfrm>
            <a:off x="6949440" y="3566160"/>
            <a:ext cx="4480560" cy="365760"/>
          </a:xfrm>
          <a:prstGeom prst="rect">
            <a:avLst/>
          </a:prstGeom>
          <a:noFill/>
          <a:ln/>
        </p:spPr>
        <p:txBody>
          <a:bodyPr wrap="square" lIns="0" tIns="0" rIns="0" bIns="0" rtlCol="0" anchor="t"/>
          <a:lstStyle/>
          <a:p>
            <a:pPr marL="0" indent="0">
              <a:buNone/>
            </a:pPr>
            <a:r>
              <a:rPr lang="en-US" sz="1800" b="1" dirty="0">
                <a:solidFill>
                  <a:schemeClr val="tx1"/>
                </a:solidFill>
              </a:rPr>
              <a:t>Step 2 — Process</a:t>
            </a:r>
            <a:endParaRPr lang="en-US" sz="1800" dirty="0"/>
          </a:p>
        </p:txBody>
      </p:sp>
      <p:sp>
        <p:nvSpPr>
          <p:cNvPr id="19" name="Text 15"/>
          <p:cNvSpPr txBox="1"/>
          <p:nvPr/>
        </p:nvSpPr>
        <p:spPr>
          <a:xfrm>
            <a:off x="6949440" y="3977640"/>
            <a:ext cx="4480560" cy="365760"/>
          </a:xfrm>
          <a:prstGeom prst="rect">
            <a:avLst/>
          </a:prstGeom>
          <a:noFill/>
          <a:ln/>
        </p:spPr>
        <p:txBody>
          <a:bodyPr wrap="square" lIns="0" tIns="0" rIns="0" bIns="0" rtlCol="0" anchor="t"/>
          <a:lstStyle/>
          <a:p>
            <a:pPr marL="0" indent="0">
              <a:buNone/>
            </a:pPr>
            <a:r>
              <a:rPr lang="en-US" sz="1400" dirty="0">
                <a:solidFill>
                  <a:schemeClr val="accent6"/>
                </a:solidFill>
              </a:rPr>
              <a:t>Score exact wording and meaning, filter noise</a:t>
            </a:r>
            <a:endParaRPr lang="en-US" sz="1400" dirty="0"/>
          </a:p>
        </p:txBody>
      </p:sp>
      <p:sp>
        <p:nvSpPr>
          <p:cNvPr id="20" name="Step card 3"/>
          <p:cNvSpPr/>
          <p:nvPr/>
        </p:nvSpPr>
        <p:spPr>
          <a:xfrm>
            <a:off x="5943600" y="4663440"/>
            <a:ext cx="5696712" cy="1097280"/>
          </a:xfrm>
          <a:prstGeom prst="roundRect">
            <a:avLst>
              <a:gd name="adj" fmla="val 10000"/>
            </a:avLst>
          </a:prstGeom>
          <a:solidFill>
            <a:schemeClr val="bg2"/>
          </a:solidFill>
          <a:ln/>
        </p:spPr>
      </p:sp>
      <p:sp>
        <p:nvSpPr>
          <p:cNvPr id="21" name="Step 3 circle"/>
          <p:cNvSpPr/>
          <p:nvPr/>
        </p:nvSpPr>
        <p:spPr>
          <a:xfrm>
            <a:off x="6172200" y="4937760"/>
            <a:ext cx="548640" cy="548640"/>
          </a:xfrm>
          <a:prstGeom prst="ellipse">
            <a:avLst/>
          </a:prstGeom>
          <a:solidFill>
            <a:schemeClr val="accent2"/>
          </a:solidFill>
          <a:ln/>
        </p:spPr>
      </p:sp>
      <p:sp>
        <p:nvSpPr>
          <p:cNvPr id="22" name="Step 3"/>
          <p:cNvSpPr txBox="1"/>
          <p:nvPr/>
        </p:nvSpPr>
        <p:spPr>
          <a:xfrm>
            <a:off x="6172200" y="493776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23" name="Text 19"/>
          <p:cNvSpPr txBox="1"/>
          <p:nvPr/>
        </p:nvSpPr>
        <p:spPr>
          <a:xfrm>
            <a:off x="6949440" y="4846320"/>
            <a:ext cx="4480560" cy="365760"/>
          </a:xfrm>
          <a:prstGeom prst="rect">
            <a:avLst/>
          </a:prstGeom>
          <a:noFill/>
          <a:ln/>
        </p:spPr>
        <p:txBody>
          <a:bodyPr wrap="square" lIns="0" tIns="0" rIns="0" bIns="0" rtlCol="0" anchor="t"/>
          <a:lstStyle/>
          <a:p>
            <a:pPr marL="0" indent="0">
              <a:buNone/>
            </a:pPr>
            <a:r>
              <a:rPr lang="en-US" sz="1800" b="1" dirty="0">
                <a:solidFill>
                  <a:schemeClr val="tx1"/>
                </a:solidFill>
              </a:rPr>
              <a:t>Step 3 — Outcome</a:t>
            </a:r>
            <a:endParaRPr lang="en-US" sz="1800" dirty="0"/>
          </a:p>
        </p:txBody>
      </p:sp>
      <p:sp>
        <p:nvSpPr>
          <p:cNvPr id="24" name="Text 20"/>
          <p:cNvSpPr txBox="1"/>
          <p:nvPr/>
        </p:nvSpPr>
        <p:spPr>
          <a:xfrm>
            <a:off x="6949440" y="5257800"/>
            <a:ext cx="4480560" cy="365760"/>
          </a:xfrm>
          <a:prstGeom prst="rect">
            <a:avLst/>
          </a:prstGeom>
          <a:noFill/>
          <a:ln/>
        </p:spPr>
        <p:txBody>
          <a:bodyPr wrap="square" lIns="0" tIns="0" rIns="0" bIns="0" rtlCol="0" anchor="t"/>
          <a:lstStyle/>
          <a:p>
            <a:pPr marL="0" indent="0">
              <a:buNone/>
            </a:pPr>
            <a:r>
              <a:rPr lang="en-US" sz="1400" dirty="0">
                <a:solidFill>
                  <a:schemeClr val="accent6"/>
                </a:solidFill>
              </a:rPr>
              <a:t>Highlighted evidence, reviewer decides</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2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365760"/>
            <a:ext cx="10058400" cy="822960"/>
          </a:xfrm>
          <a:prstGeom prst="rect">
            <a:avLst/>
          </a:prstGeom>
          <a:noFill/>
          <a:ln/>
        </p:spPr>
        <p:txBody>
          <a:bodyPr wrap="square" lIns="0" tIns="0" rIns="0" bIns="0" rtlCol="0" anchor="ctr"/>
          <a:lstStyle/>
          <a:p>
            <a:pPr marL="0" indent="0" algn="l">
              <a:buNone/>
            </a:pPr>
            <a:r>
              <a:rPr lang="en-US" sz="3600" b="1" dirty="0">
                <a:solidFill>
                  <a:schemeClr val="tx1"/>
                </a:solidFill>
              </a:rPr>
              <a:t>Key Features</a:t>
            </a:r>
            <a:endParaRPr lang="en-US" sz="3600" dirty="0"/>
          </a:p>
        </p:txBody>
      </p:sp>
      <p:sp>
        <p:nvSpPr>
          <p:cNvPr id="4" name="Feature card 1"/>
          <p:cNvSpPr/>
          <p:nvPr/>
        </p:nvSpPr>
        <p:spPr>
          <a:xfrm>
            <a:off x="548640" y="1554480"/>
            <a:ext cx="3630168" cy="2057400"/>
          </a:xfrm>
          <a:prstGeom prst="roundRect">
            <a:avLst>
              <a:gd name="adj" fmla="val 5333"/>
            </a:avLst>
          </a:prstGeom>
          <a:solidFill>
            <a:schemeClr val="bg2"/>
          </a:solidFill>
          <a:ln/>
        </p:spPr>
      </p:sp>
      <p:sp>
        <p:nvSpPr>
          <p:cNvPr id="5" name="Feature 1 icon circle"/>
          <p:cNvSpPr/>
          <p:nvPr/>
        </p:nvSpPr>
        <p:spPr>
          <a:xfrm>
            <a:off x="822960" y="1828800"/>
            <a:ext cx="640080" cy="640080"/>
          </a:xfrm>
          <a:prstGeom prst="ellipse">
            <a:avLst/>
          </a:prstGeom>
          <a:solidFill>
            <a:schemeClr val="accent1"/>
          </a:solidFill>
          <a:ln/>
        </p:spPr>
      </p:sp>
      <p:pic>
        <p:nvPicPr>
          <p:cNvPr id="6" name="Feature 1 icon" descr="Feature 1 icon"/>
          <p:cNvPicPr>
            <a:picLocks noChangeAspect="1"/>
          </p:cNvPicPr>
          <p:nvPr/>
        </p:nvPicPr>
        <p:blipFill>
          <a:blip r:embed="rId3"/>
          <a:stretch>
            <a:fillRect/>
          </a:stretch>
        </p:blipFill>
        <p:spPr>
          <a:xfrm>
            <a:off x="989381" y="1995221"/>
            <a:ext cx="307238" cy="307238"/>
          </a:xfrm>
          <a:prstGeom prst="rect">
            <a:avLst/>
          </a:prstGeom>
        </p:spPr>
      </p:pic>
      <p:sp>
        <p:nvSpPr>
          <p:cNvPr id="7" name="Text 3"/>
          <p:cNvSpPr txBox="1"/>
          <p:nvPr/>
        </p:nvSpPr>
        <p:spPr>
          <a:xfrm>
            <a:off x="1645920" y="1920240"/>
            <a:ext cx="2377440" cy="457200"/>
          </a:xfrm>
          <a:prstGeom prst="rect">
            <a:avLst/>
          </a:prstGeom>
          <a:noFill/>
          <a:ln/>
        </p:spPr>
        <p:txBody>
          <a:bodyPr wrap="square" lIns="0" tIns="0" rIns="0" bIns="0" rtlCol="0" anchor="ctr"/>
          <a:lstStyle/>
          <a:p>
            <a:pPr marL="0" indent="0">
              <a:buNone/>
            </a:pPr>
            <a:r>
              <a:rPr lang="en-US" sz="1800" b="1" dirty="0">
                <a:solidFill>
                  <a:schemeClr val="tx1"/>
                </a:solidFill>
              </a:rPr>
              <a:t>Exact Match Engine</a:t>
            </a:r>
            <a:endParaRPr lang="en-US" sz="1800" dirty="0"/>
          </a:p>
        </p:txBody>
      </p:sp>
      <p:sp>
        <p:nvSpPr>
          <p:cNvPr id="8" name="Text 4"/>
          <p:cNvSpPr txBox="1"/>
          <p:nvPr/>
        </p:nvSpPr>
        <p:spPr>
          <a:xfrm>
            <a:off x="822960" y="2697480"/>
            <a:ext cx="3108960" cy="731520"/>
          </a:xfrm>
          <a:prstGeom prst="rect">
            <a:avLst/>
          </a:prstGeom>
          <a:noFill/>
          <a:ln/>
        </p:spPr>
        <p:txBody>
          <a:bodyPr wrap="square" lIns="0" tIns="0" rIns="0" bIns="0" rtlCol="0" anchor="t"/>
          <a:lstStyle/>
          <a:p>
            <a:pPr marL="0" indent="0">
              <a:buNone/>
            </a:pPr>
            <a:r>
              <a:rPr lang="en-US" sz="1400" dirty="0">
                <a:solidFill>
                  <a:schemeClr val="accent6"/>
                </a:solidFill>
              </a:rPr>
              <a:t>Finds copied wording with word n-grams, even after small edits.</a:t>
            </a:r>
            <a:endParaRPr lang="en-US" sz="1400" dirty="0"/>
          </a:p>
        </p:txBody>
      </p:sp>
      <p:sp>
        <p:nvSpPr>
          <p:cNvPr id="9" name="Feature card 2"/>
          <p:cNvSpPr/>
          <p:nvPr/>
        </p:nvSpPr>
        <p:spPr>
          <a:xfrm>
            <a:off x="4279392" y="1554480"/>
            <a:ext cx="3630168" cy="2057400"/>
          </a:xfrm>
          <a:prstGeom prst="roundRect">
            <a:avLst>
              <a:gd name="adj" fmla="val 5333"/>
            </a:avLst>
          </a:prstGeom>
          <a:solidFill>
            <a:schemeClr val="bg2"/>
          </a:solidFill>
          <a:ln/>
        </p:spPr>
      </p:sp>
      <p:sp>
        <p:nvSpPr>
          <p:cNvPr id="10" name="Feature 2 icon circle"/>
          <p:cNvSpPr/>
          <p:nvPr/>
        </p:nvSpPr>
        <p:spPr>
          <a:xfrm>
            <a:off x="4553712" y="1828800"/>
            <a:ext cx="640080" cy="640080"/>
          </a:xfrm>
          <a:prstGeom prst="ellipse">
            <a:avLst/>
          </a:prstGeom>
          <a:solidFill>
            <a:schemeClr val="accent2"/>
          </a:solidFill>
          <a:ln/>
        </p:spPr>
      </p:sp>
      <p:pic>
        <p:nvPicPr>
          <p:cNvPr id="11" name="Feature 2 icon" descr="Feature 2 icon"/>
          <p:cNvPicPr>
            <a:picLocks noChangeAspect="1"/>
          </p:cNvPicPr>
          <p:nvPr/>
        </p:nvPicPr>
        <p:blipFill>
          <a:blip r:embed="rId4"/>
          <a:stretch>
            <a:fillRect/>
          </a:stretch>
        </p:blipFill>
        <p:spPr>
          <a:xfrm>
            <a:off x="4720133" y="1995221"/>
            <a:ext cx="307238" cy="307238"/>
          </a:xfrm>
          <a:prstGeom prst="rect">
            <a:avLst/>
          </a:prstGeom>
        </p:spPr>
      </p:pic>
      <p:sp>
        <p:nvSpPr>
          <p:cNvPr id="12" name="Text 7"/>
          <p:cNvSpPr txBox="1"/>
          <p:nvPr/>
        </p:nvSpPr>
        <p:spPr>
          <a:xfrm>
            <a:off x="5376672" y="1920240"/>
            <a:ext cx="2377440" cy="457200"/>
          </a:xfrm>
          <a:prstGeom prst="rect">
            <a:avLst/>
          </a:prstGeom>
          <a:noFill/>
          <a:ln/>
        </p:spPr>
        <p:txBody>
          <a:bodyPr wrap="square" lIns="0" tIns="0" rIns="0" bIns="0" rtlCol="0" anchor="ctr"/>
          <a:lstStyle/>
          <a:p>
            <a:pPr marL="0" indent="0">
              <a:buNone/>
            </a:pPr>
            <a:r>
              <a:rPr lang="en-US" sz="1800" b="1" dirty="0">
                <a:solidFill>
                  <a:schemeClr val="tx1"/>
                </a:solidFill>
              </a:rPr>
              <a:t>Semantic Engine</a:t>
            </a:r>
            <a:endParaRPr lang="en-US" sz="1800" dirty="0"/>
          </a:p>
        </p:txBody>
      </p:sp>
      <p:sp>
        <p:nvSpPr>
          <p:cNvPr id="13" name="Text 8"/>
          <p:cNvSpPr txBox="1"/>
          <p:nvPr/>
        </p:nvSpPr>
        <p:spPr>
          <a:xfrm>
            <a:off x="4553712" y="2697480"/>
            <a:ext cx="3108960" cy="731520"/>
          </a:xfrm>
          <a:prstGeom prst="rect">
            <a:avLst/>
          </a:prstGeom>
          <a:noFill/>
          <a:ln/>
        </p:spPr>
        <p:txBody>
          <a:bodyPr wrap="square" lIns="0" tIns="0" rIns="0" bIns="0" rtlCol="0" anchor="t"/>
          <a:lstStyle/>
          <a:p>
            <a:pPr marL="0" indent="0">
              <a:buNone/>
            </a:pPr>
            <a:r>
              <a:rPr lang="en-US" sz="1400" dirty="0">
                <a:solidFill>
                  <a:schemeClr val="accent6"/>
                </a:solidFill>
              </a:rPr>
              <a:t>Embeddings catch paraphrases that share few identical words.</a:t>
            </a:r>
            <a:endParaRPr lang="en-US" sz="1400" dirty="0"/>
          </a:p>
        </p:txBody>
      </p:sp>
      <p:sp>
        <p:nvSpPr>
          <p:cNvPr id="14" name="Feature card 3"/>
          <p:cNvSpPr/>
          <p:nvPr/>
        </p:nvSpPr>
        <p:spPr>
          <a:xfrm>
            <a:off x="8010144" y="1554480"/>
            <a:ext cx="3630168" cy="2057400"/>
          </a:xfrm>
          <a:prstGeom prst="roundRect">
            <a:avLst>
              <a:gd name="adj" fmla="val 5333"/>
            </a:avLst>
          </a:prstGeom>
          <a:solidFill>
            <a:schemeClr val="bg2"/>
          </a:solidFill>
          <a:ln/>
        </p:spPr>
      </p:sp>
      <p:sp>
        <p:nvSpPr>
          <p:cNvPr id="15" name="Feature 3 icon circle"/>
          <p:cNvSpPr/>
          <p:nvPr/>
        </p:nvSpPr>
        <p:spPr>
          <a:xfrm>
            <a:off x="8284464" y="1828800"/>
            <a:ext cx="640080" cy="640080"/>
          </a:xfrm>
          <a:prstGeom prst="ellipse">
            <a:avLst/>
          </a:prstGeom>
          <a:solidFill>
            <a:schemeClr val="accent3"/>
          </a:solidFill>
          <a:ln/>
        </p:spPr>
      </p:sp>
      <p:pic>
        <p:nvPicPr>
          <p:cNvPr id="16" name="Feature 3 icon" descr="Feature 3 icon"/>
          <p:cNvPicPr>
            <a:picLocks noChangeAspect="1"/>
          </p:cNvPicPr>
          <p:nvPr/>
        </p:nvPicPr>
        <p:blipFill>
          <a:blip r:embed="rId5"/>
          <a:stretch>
            <a:fillRect/>
          </a:stretch>
        </p:blipFill>
        <p:spPr>
          <a:xfrm>
            <a:off x="8450885" y="1995221"/>
            <a:ext cx="307238" cy="307238"/>
          </a:xfrm>
          <a:prstGeom prst="rect">
            <a:avLst/>
          </a:prstGeom>
        </p:spPr>
      </p:pic>
      <p:sp>
        <p:nvSpPr>
          <p:cNvPr id="17" name="Text 11"/>
          <p:cNvSpPr txBox="1"/>
          <p:nvPr/>
        </p:nvSpPr>
        <p:spPr>
          <a:xfrm>
            <a:off x="9107424" y="1920240"/>
            <a:ext cx="2377440" cy="457200"/>
          </a:xfrm>
          <a:prstGeom prst="rect">
            <a:avLst/>
          </a:prstGeom>
          <a:noFill/>
          <a:ln/>
        </p:spPr>
        <p:txBody>
          <a:bodyPr wrap="square" lIns="0" tIns="0" rIns="0" bIns="0" rtlCol="0" anchor="ctr"/>
          <a:lstStyle/>
          <a:p>
            <a:pPr marL="0" indent="0">
              <a:buNone/>
            </a:pPr>
            <a:r>
              <a:rPr lang="en-US" sz="1800" b="1" dirty="0">
                <a:solidFill>
                  <a:schemeClr val="tx1"/>
                </a:solidFill>
              </a:rPr>
              <a:t>Smart Filtering</a:t>
            </a:r>
            <a:endParaRPr lang="en-US" sz="1800" dirty="0"/>
          </a:p>
        </p:txBody>
      </p:sp>
      <p:sp>
        <p:nvSpPr>
          <p:cNvPr id="18" name="Text 12"/>
          <p:cNvSpPr txBox="1"/>
          <p:nvPr/>
        </p:nvSpPr>
        <p:spPr>
          <a:xfrm>
            <a:off x="8284464" y="2697480"/>
            <a:ext cx="3108960" cy="731520"/>
          </a:xfrm>
          <a:prstGeom prst="rect">
            <a:avLst/>
          </a:prstGeom>
          <a:noFill/>
          <a:ln/>
        </p:spPr>
        <p:txBody>
          <a:bodyPr wrap="square" lIns="0" tIns="0" rIns="0" bIns="0" rtlCol="0" anchor="t"/>
          <a:lstStyle/>
          <a:p>
            <a:pPr marL="0" indent="0">
              <a:buNone/>
            </a:pPr>
            <a:r>
              <a:rPr lang="en-US" sz="1400" dirty="0">
                <a:solidFill>
                  <a:schemeClr val="accent6"/>
                </a:solidFill>
              </a:rPr>
              <a:t>Drops common phrases; flags only pairs above the batch average.</a:t>
            </a:r>
            <a:endParaRPr lang="en-US" sz="1400" dirty="0"/>
          </a:p>
        </p:txBody>
      </p:sp>
      <p:sp>
        <p:nvSpPr>
          <p:cNvPr id="19" name="Feature card 4"/>
          <p:cNvSpPr/>
          <p:nvPr/>
        </p:nvSpPr>
        <p:spPr>
          <a:xfrm>
            <a:off x="548640" y="3886200"/>
            <a:ext cx="3630168" cy="2057400"/>
          </a:xfrm>
          <a:prstGeom prst="roundRect">
            <a:avLst>
              <a:gd name="adj" fmla="val 5333"/>
            </a:avLst>
          </a:prstGeom>
          <a:solidFill>
            <a:schemeClr val="bg2"/>
          </a:solidFill>
          <a:ln/>
        </p:spPr>
      </p:sp>
      <p:sp>
        <p:nvSpPr>
          <p:cNvPr id="20" name="Feature 4 icon circle"/>
          <p:cNvSpPr/>
          <p:nvPr/>
        </p:nvSpPr>
        <p:spPr>
          <a:xfrm>
            <a:off x="822960" y="4160520"/>
            <a:ext cx="640080" cy="640080"/>
          </a:xfrm>
          <a:prstGeom prst="ellipse">
            <a:avLst/>
          </a:prstGeom>
          <a:solidFill>
            <a:schemeClr val="accent5"/>
          </a:solidFill>
          <a:ln/>
        </p:spPr>
      </p:sp>
      <p:pic>
        <p:nvPicPr>
          <p:cNvPr id="21" name="Feature 4 icon" descr="Feature 4 icon"/>
          <p:cNvPicPr>
            <a:picLocks noChangeAspect="1"/>
          </p:cNvPicPr>
          <p:nvPr/>
        </p:nvPicPr>
        <p:blipFill>
          <a:blip r:embed="rId6"/>
          <a:stretch>
            <a:fillRect/>
          </a:stretch>
        </p:blipFill>
        <p:spPr>
          <a:xfrm>
            <a:off x="989381" y="4326941"/>
            <a:ext cx="307238" cy="307238"/>
          </a:xfrm>
          <a:prstGeom prst="rect">
            <a:avLst/>
          </a:prstGeom>
        </p:spPr>
      </p:pic>
      <p:sp>
        <p:nvSpPr>
          <p:cNvPr id="22" name="Text 15"/>
          <p:cNvSpPr txBox="1"/>
          <p:nvPr/>
        </p:nvSpPr>
        <p:spPr>
          <a:xfrm>
            <a:off x="1645920" y="4251960"/>
            <a:ext cx="2377440" cy="457200"/>
          </a:xfrm>
          <a:prstGeom prst="rect">
            <a:avLst/>
          </a:prstGeom>
          <a:noFill/>
          <a:ln/>
        </p:spPr>
        <p:txBody>
          <a:bodyPr wrap="square" lIns="0" tIns="0" rIns="0" bIns="0" rtlCol="0" anchor="ctr"/>
          <a:lstStyle/>
          <a:p>
            <a:pPr marL="0" indent="0">
              <a:buNone/>
            </a:pPr>
            <a:r>
              <a:rPr lang="en-US" sz="1800" b="1" dirty="0">
                <a:solidFill>
                  <a:schemeClr val="tx1"/>
                </a:solidFill>
              </a:rPr>
              <a:t>Evidence View</a:t>
            </a:r>
            <a:endParaRPr lang="en-US" sz="1800" dirty="0"/>
          </a:p>
        </p:txBody>
      </p:sp>
      <p:sp>
        <p:nvSpPr>
          <p:cNvPr id="23" name="Text 16"/>
          <p:cNvSpPr txBox="1"/>
          <p:nvPr/>
        </p:nvSpPr>
        <p:spPr>
          <a:xfrm>
            <a:off x="822960" y="5029200"/>
            <a:ext cx="3108960" cy="731520"/>
          </a:xfrm>
          <a:prstGeom prst="rect">
            <a:avLst/>
          </a:prstGeom>
          <a:noFill/>
          <a:ln/>
        </p:spPr>
        <p:txBody>
          <a:bodyPr wrap="square" lIns="0" tIns="0" rIns="0" bIns="0" rtlCol="0" anchor="t"/>
          <a:lstStyle/>
          <a:p>
            <a:pPr marL="0" indent="0">
              <a:buNone/>
            </a:pPr>
            <a:r>
              <a:rPr lang="en-US" sz="1400" dirty="0">
                <a:solidFill>
                  <a:schemeClr val="accent6"/>
                </a:solidFill>
              </a:rPr>
              <a:t>Side-by-side highlights show exactly which passages match.</a:t>
            </a:r>
            <a:endParaRPr lang="en-US" sz="1400" dirty="0"/>
          </a:p>
        </p:txBody>
      </p:sp>
      <p:sp>
        <p:nvSpPr>
          <p:cNvPr id="24" name="Feature card 5"/>
          <p:cNvSpPr/>
          <p:nvPr/>
        </p:nvSpPr>
        <p:spPr>
          <a:xfrm>
            <a:off x="4279392" y="3886200"/>
            <a:ext cx="3630168" cy="2057400"/>
          </a:xfrm>
          <a:prstGeom prst="roundRect">
            <a:avLst>
              <a:gd name="adj" fmla="val 5333"/>
            </a:avLst>
          </a:prstGeom>
          <a:solidFill>
            <a:schemeClr val="bg2"/>
          </a:solidFill>
          <a:ln/>
        </p:spPr>
      </p:sp>
      <p:sp>
        <p:nvSpPr>
          <p:cNvPr id="25" name="Feature 5 icon circle"/>
          <p:cNvSpPr/>
          <p:nvPr/>
        </p:nvSpPr>
        <p:spPr>
          <a:xfrm>
            <a:off x="4553712" y="4160520"/>
            <a:ext cx="640080" cy="640080"/>
          </a:xfrm>
          <a:prstGeom prst="ellipse">
            <a:avLst/>
          </a:prstGeom>
          <a:solidFill>
            <a:schemeClr val="accent1"/>
          </a:solidFill>
          <a:ln/>
        </p:spPr>
      </p:sp>
      <p:pic>
        <p:nvPicPr>
          <p:cNvPr id="26" name="Feature 5 icon" descr="Feature 5 icon"/>
          <p:cNvPicPr>
            <a:picLocks noChangeAspect="1"/>
          </p:cNvPicPr>
          <p:nvPr/>
        </p:nvPicPr>
        <p:blipFill>
          <a:blip r:embed="rId7"/>
          <a:stretch>
            <a:fillRect/>
          </a:stretch>
        </p:blipFill>
        <p:spPr>
          <a:xfrm>
            <a:off x="4720133" y="4326941"/>
            <a:ext cx="307238" cy="307238"/>
          </a:xfrm>
          <a:prstGeom prst="rect">
            <a:avLst/>
          </a:prstGeom>
        </p:spPr>
      </p:pic>
      <p:sp>
        <p:nvSpPr>
          <p:cNvPr id="27" name="Text 19"/>
          <p:cNvSpPr txBox="1"/>
          <p:nvPr/>
        </p:nvSpPr>
        <p:spPr>
          <a:xfrm>
            <a:off x="5376672" y="4251960"/>
            <a:ext cx="2377440" cy="457200"/>
          </a:xfrm>
          <a:prstGeom prst="rect">
            <a:avLst/>
          </a:prstGeom>
          <a:noFill/>
          <a:ln/>
        </p:spPr>
        <p:txBody>
          <a:bodyPr wrap="square" lIns="0" tIns="0" rIns="0" bIns="0" rtlCol="0" anchor="ctr"/>
          <a:lstStyle/>
          <a:p>
            <a:pPr marL="0" indent="0">
              <a:buNone/>
            </a:pPr>
            <a:r>
              <a:rPr lang="en-US" sz="1800" b="1" dirty="0">
                <a:solidFill>
                  <a:schemeClr val="tx1"/>
                </a:solidFill>
              </a:rPr>
              <a:t>Explained Scores</a:t>
            </a:r>
            <a:endParaRPr lang="en-US" sz="1800" dirty="0"/>
          </a:p>
        </p:txBody>
      </p:sp>
      <p:sp>
        <p:nvSpPr>
          <p:cNvPr id="28" name="Text 20"/>
          <p:cNvSpPr txBox="1"/>
          <p:nvPr/>
        </p:nvSpPr>
        <p:spPr>
          <a:xfrm>
            <a:off x="4553712" y="5029200"/>
            <a:ext cx="3108960" cy="731520"/>
          </a:xfrm>
          <a:prstGeom prst="rect">
            <a:avLst/>
          </a:prstGeom>
          <a:noFill/>
          <a:ln/>
        </p:spPr>
        <p:txBody>
          <a:bodyPr wrap="square" lIns="0" tIns="0" rIns="0" bIns="0" rtlCol="0" anchor="t"/>
          <a:lstStyle/>
          <a:p>
            <a:pPr marL="0" indent="0">
              <a:buNone/>
            </a:pPr>
            <a:r>
              <a:rPr lang="en-US" sz="1400" dirty="0">
                <a:solidFill>
                  <a:schemeClr val="accent6"/>
                </a:solidFill>
              </a:rPr>
              <a:t>Each flag says why: copied, paraphrased or common text.</a:t>
            </a:r>
            <a:endParaRPr lang="en-US" sz="1400" dirty="0"/>
          </a:p>
        </p:txBody>
      </p:sp>
      <p:sp>
        <p:nvSpPr>
          <p:cNvPr id="29" name="Feature card 6"/>
          <p:cNvSpPr/>
          <p:nvPr/>
        </p:nvSpPr>
        <p:spPr>
          <a:xfrm>
            <a:off x="8010144" y="3886200"/>
            <a:ext cx="3630168" cy="2057400"/>
          </a:xfrm>
          <a:prstGeom prst="roundRect">
            <a:avLst>
              <a:gd name="adj" fmla="val 5333"/>
            </a:avLst>
          </a:prstGeom>
          <a:solidFill>
            <a:schemeClr val="bg2"/>
          </a:solidFill>
          <a:ln/>
        </p:spPr>
      </p:sp>
      <p:sp>
        <p:nvSpPr>
          <p:cNvPr id="30" name="Feature 6 icon circle"/>
          <p:cNvSpPr/>
          <p:nvPr/>
        </p:nvSpPr>
        <p:spPr>
          <a:xfrm>
            <a:off x="8284464" y="4160520"/>
            <a:ext cx="640080" cy="640080"/>
          </a:xfrm>
          <a:prstGeom prst="ellipse">
            <a:avLst/>
          </a:prstGeom>
          <a:solidFill>
            <a:schemeClr val="accent2"/>
          </a:solidFill>
          <a:ln/>
        </p:spPr>
      </p:sp>
      <p:pic>
        <p:nvPicPr>
          <p:cNvPr id="31" name="Feature 6 icon" descr="Feature 6 icon"/>
          <p:cNvPicPr>
            <a:picLocks noChangeAspect="1"/>
          </p:cNvPicPr>
          <p:nvPr/>
        </p:nvPicPr>
        <p:blipFill>
          <a:blip r:embed="rId8"/>
          <a:stretch>
            <a:fillRect/>
          </a:stretch>
        </p:blipFill>
        <p:spPr>
          <a:xfrm>
            <a:off x="8450885" y="4326941"/>
            <a:ext cx="307238" cy="307238"/>
          </a:xfrm>
          <a:prstGeom prst="rect">
            <a:avLst/>
          </a:prstGeom>
        </p:spPr>
      </p:pic>
      <p:sp>
        <p:nvSpPr>
          <p:cNvPr id="32" name="Text 23"/>
          <p:cNvSpPr txBox="1"/>
          <p:nvPr/>
        </p:nvSpPr>
        <p:spPr>
          <a:xfrm>
            <a:off x="9107424" y="4251960"/>
            <a:ext cx="2377440" cy="457200"/>
          </a:xfrm>
          <a:prstGeom prst="rect">
            <a:avLst/>
          </a:prstGeom>
          <a:noFill/>
          <a:ln/>
        </p:spPr>
        <p:txBody>
          <a:bodyPr wrap="square" lIns="0" tIns="0" rIns="0" bIns="0" rtlCol="0" anchor="ctr"/>
          <a:lstStyle/>
          <a:p>
            <a:pPr marL="0" indent="0">
              <a:buNone/>
            </a:pPr>
            <a:r>
              <a:rPr lang="en-US" sz="1800" b="1" dirty="0">
                <a:solidFill>
                  <a:schemeClr val="tx1"/>
                </a:solidFill>
              </a:rPr>
              <a:t>Reviewer Workflow</a:t>
            </a:r>
            <a:endParaRPr lang="en-US" sz="1800" dirty="0"/>
          </a:p>
        </p:txBody>
      </p:sp>
      <p:sp>
        <p:nvSpPr>
          <p:cNvPr id="33" name="Text 24"/>
          <p:cNvSpPr txBox="1"/>
          <p:nvPr/>
        </p:nvSpPr>
        <p:spPr>
          <a:xfrm>
            <a:off x="8284464" y="5029200"/>
            <a:ext cx="3108960" cy="731520"/>
          </a:xfrm>
          <a:prstGeom prst="rect">
            <a:avLst/>
          </a:prstGeom>
          <a:noFill/>
          <a:ln/>
        </p:spPr>
        <p:txBody>
          <a:bodyPr wrap="square" lIns="0" tIns="0" rIns="0" bIns="0" rtlCol="0" anchor="t"/>
          <a:lstStyle/>
          <a:p>
            <a:pPr marL="0" indent="0">
              <a:buNone/>
            </a:pPr>
            <a:r>
              <a:rPr lang="en-US" sz="1400" dirty="0">
                <a:solidFill>
                  <a:schemeClr val="accent6"/>
                </a:solidFill>
              </a:rPr>
              <a:t>Confirm, dismiss or escalate with notes. Indicators, not proof.</a:t>
            </a:r>
            <a:endParaRPr lang="en-US" sz="1400" dirty="0"/>
          </a:p>
        </p:txBody>
      </p:sp>
      <p:sp>
        <p:nvSpPr>
          <p:cNvPr id="3"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2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365760"/>
            <a:ext cx="10058400" cy="822960"/>
          </a:xfrm>
          <a:prstGeom prst="rect">
            <a:avLst/>
          </a:prstGeom>
          <a:noFill/>
          <a:ln/>
        </p:spPr>
        <p:txBody>
          <a:bodyPr wrap="square" lIns="0" tIns="0" rIns="0" bIns="0" rtlCol="0" anchor="ctr"/>
          <a:lstStyle/>
          <a:p>
            <a:pPr marL="0" indent="0" algn="l">
              <a:buNone/>
            </a:pPr>
            <a:r>
              <a:rPr lang="en-US" sz="3600" b="1" dirty="0">
                <a:solidFill>
                  <a:schemeClr val="tx1"/>
                </a:solidFill>
              </a:rPr>
              <a:t>Architecture &amp; Tech Stack</a:t>
            </a:r>
            <a:endParaRPr lang="en-US" sz="3600" dirty="0"/>
          </a:p>
        </p:txBody>
      </p:sp>
      <p:sp>
        <p:nvSpPr>
          <p:cNvPr id="4" name="Layer 1"/>
          <p:cNvSpPr/>
          <p:nvPr/>
        </p:nvSpPr>
        <p:spPr>
          <a:xfrm>
            <a:off x="548640" y="1554480"/>
            <a:ext cx="6949440" cy="1280160"/>
          </a:xfrm>
          <a:prstGeom prst="roundRect">
            <a:avLst>
              <a:gd name="adj" fmla="val 8571"/>
            </a:avLst>
          </a:prstGeom>
          <a:solidFill>
            <a:schemeClr val="tx2"/>
          </a:solidFill>
          <a:ln/>
        </p:spPr>
      </p:sp>
      <p:sp>
        <p:nvSpPr>
          <p:cNvPr id="5" name="User layer icon circle"/>
          <p:cNvSpPr/>
          <p:nvPr/>
        </p:nvSpPr>
        <p:spPr>
          <a:xfrm>
            <a:off x="868680" y="1828800"/>
            <a:ext cx="731520" cy="731520"/>
          </a:xfrm>
          <a:prstGeom prst="ellipse">
            <a:avLst/>
          </a:prstGeom>
          <a:solidFill>
            <a:schemeClr val="accent2"/>
          </a:solidFill>
          <a:ln/>
        </p:spPr>
      </p:sp>
      <p:pic>
        <p:nvPicPr>
          <p:cNvPr id="6" name="User layer icon" descr="User layer icon"/>
          <p:cNvPicPr>
            <a:picLocks noChangeAspect="1"/>
          </p:cNvPicPr>
          <p:nvPr/>
        </p:nvPicPr>
        <p:blipFill>
          <a:blip r:embed="rId3"/>
          <a:stretch>
            <a:fillRect/>
          </a:stretch>
        </p:blipFill>
        <p:spPr>
          <a:xfrm>
            <a:off x="1058875" y="2018995"/>
            <a:ext cx="351130" cy="351130"/>
          </a:xfrm>
          <a:prstGeom prst="rect">
            <a:avLst/>
          </a:prstGeom>
        </p:spPr>
      </p:pic>
      <p:sp>
        <p:nvSpPr>
          <p:cNvPr id="7" name="Text 3"/>
          <p:cNvSpPr txBox="1"/>
          <p:nvPr/>
        </p:nvSpPr>
        <p:spPr>
          <a:xfrm>
            <a:off x="1874520" y="1810512"/>
            <a:ext cx="5303520" cy="365760"/>
          </a:xfrm>
          <a:prstGeom prst="rect">
            <a:avLst/>
          </a:prstGeom>
          <a:noFill/>
          <a:ln/>
        </p:spPr>
        <p:txBody>
          <a:bodyPr wrap="square" lIns="0" tIns="0" rIns="0" bIns="0" rtlCol="0" anchor="t"/>
          <a:lstStyle/>
          <a:p>
            <a:pPr marL="0" indent="0">
              <a:buNone/>
            </a:pPr>
            <a:r>
              <a:rPr lang="en-US" sz="2000" b="1" dirty="0">
                <a:solidFill>
                  <a:schemeClr val="bg1"/>
                </a:solidFill>
              </a:rPr>
              <a:t>User layer</a:t>
            </a:r>
            <a:endParaRPr lang="en-US" sz="2000" dirty="0"/>
          </a:p>
        </p:txBody>
      </p:sp>
      <p:sp>
        <p:nvSpPr>
          <p:cNvPr id="8" name="Text 4"/>
          <p:cNvSpPr txBox="1"/>
          <p:nvPr/>
        </p:nvSpPr>
        <p:spPr>
          <a:xfrm>
            <a:off x="1874520" y="2267712"/>
            <a:ext cx="5303520" cy="365760"/>
          </a:xfrm>
          <a:prstGeom prst="rect">
            <a:avLst/>
          </a:prstGeom>
          <a:noFill/>
          <a:ln/>
        </p:spPr>
        <p:txBody>
          <a:bodyPr wrap="square" lIns="0" tIns="0" rIns="0" bIns="0" rtlCol="0" anchor="t"/>
          <a:lstStyle/>
          <a:p>
            <a:pPr marL="0" indent="0">
              <a:buNone/>
            </a:pPr>
            <a:r>
              <a:rPr lang="en-US" sz="1400" dirty="0">
                <a:solidFill>
                  <a:schemeClr val="bg1"/>
                </a:solidFill>
              </a:rPr>
              <a:t>Reviewer web app: upload, results, evidence view</a:t>
            </a:r>
            <a:endParaRPr lang="en-US" sz="1400" dirty="0"/>
          </a:p>
        </p:txBody>
      </p:sp>
      <p:sp>
        <p:nvSpPr>
          <p:cNvPr id="9" name="Layer 2"/>
          <p:cNvSpPr/>
          <p:nvPr/>
        </p:nvSpPr>
        <p:spPr>
          <a:xfrm>
            <a:off x="548640" y="3063240"/>
            <a:ext cx="6949440" cy="1280160"/>
          </a:xfrm>
          <a:prstGeom prst="roundRect">
            <a:avLst>
              <a:gd name="adj" fmla="val 8571"/>
            </a:avLst>
          </a:prstGeom>
          <a:solidFill>
            <a:schemeClr val="accent1"/>
          </a:solidFill>
          <a:ln/>
        </p:spPr>
      </p:sp>
      <p:sp>
        <p:nvSpPr>
          <p:cNvPr id="10" name="Application layer icon circle"/>
          <p:cNvSpPr/>
          <p:nvPr/>
        </p:nvSpPr>
        <p:spPr>
          <a:xfrm>
            <a:off x="868680" y="3337560"/>
            <a:ext cx="731520" cy="731520"/>
          </a:xfrm>
          <a:prstGeom prst="ellipse">
            <a:avLst/>
          </a:prstGeom>
          <a:solidFill>
            <a:schemeClr val="accent2"/>
          </a:solidFill>
          <a:ln/>
        </p:spPr>
      </p:sp>
      <p:pic>
        <p:nvPicPr>
          <p:cNvPr id="11" name="Application layer icon" descr="Application layer icon"/>
          <p:cNvPicPr>
            <a:picLocks noChangeAspect="1"/>
          </p:cNvPicPr>
          <p:nvPr/>
        </p:nvPicPr>
        <p:blipFill>
          <a:blip r:embed="rId4"/>
          <a:stretch>
            <a:fillRect/>
          </a:stretch>
        </p:blipFill>
        <p:spPr>
          <a:xfrm>
            <a:off x="1058875" y="3527755"/>
            <a:ext cx="351130" cy="351130"/>
          </a:xfrm>
          <a:prstGeom prst="rect">
            <a:avLst/>
          </a:prstGeom>
        </p:spPr>
      </p:pic>
      <p:sp>
        <p:nvSpPr>
          <p:cNvPr id="12" name="Text 7"/>
          <p:cNvSpPr txBox="1"/>
          <p:nvPr/>
        </p:nvSpPr>
        <p:spPr>
          <a:xfrm>
            <a:off x="1874520" y="3319272"/>
            <a:ext cx="5303520" cy="365760"/>
          </a:xfrm>
          <a:prstGeom prst="rect">
            <a:avLst/>
          </a:prstGeom>
          <a:noFill/>
          <a:ln/>
        </p:spPr>
        <p:txBody>
          <a:bodyPr wrap="square" lIns="0" tIns="0" rIns="0" bIns="0" rtlCol="0" anchor="t"/>
          <a:lstStyle/>
          <a:p>
            <a:pPr marL="0" indent="0">
              <a:buNone/>
            </a:pPr>
            <a:r>
              <a:rPr lang="en-US" sz="2000" b="1" dirty="0">
                <a:solidFill>
                  <a:schemeClr val="bg1"/>
                </a:solidFill>
              </a:rPr>
              <a:t>Application layer</a:t>
            </a:r>
            <a:endParaRPr lang="en-US" sz="2000" dirty="0"/>
          </a:p>
        </p:txBody>
      </p:sp>
      <p:sp>
        <p:nvSpPr>
          <p:cNvPr id="13" name="Text 8"/>
          <p:cNvSpPr txBox="1"/>
          <p:nvPr/>
        </p:nvSpPr>
        <p:spPr>
          <a:xfrm>
            <a:off x="1874520" y="3776472"/>
            <a:ext cx="5303520" cy="365760"/>
          </a:xfrm>
          <a:prstGeom prst="rect">
            <a:avLst/>
          </a:prstGeom>
          <a:noFill/>
          <a:ln/>
        </p:spPr>
        <p:txBody>
          <a:bodyPr wrap="square" lIns="0" tIns="0" rIns="0" bIns="0" rtlCol="0" anchor="t"/>
          <a:lstStyle/>
          <a:p>
            <a:pPr marL="0" indent="0">
              <a:buNone/>
            </a:pPr>
            <a:r>
              <a:rPr lang="en-US" sz="1400" dirty="0">
                <a:solidFill>
                  <a:schemeClr val="bg1"/>
                </a:solidFill>
              </a:rPr>
              <a:t>FastAPI endpoints, matching and review logic</a:t>
            </a:r>
            <a:endParaRPr lang="en-US" sz="1400" dirty="0"/>
          </a:p>
        </p:txBody>
      </p:sp>
      <p:sp>
        <p:nvSpPr>
          <p:cNvPr id="14" name="Layer 3"/>
          <p:cNvSpPr/>
          <p:nvPr/>
        </p:nvSpPr>
        <p:spPr>
          <a:xfrm>
            <a:off x="548640" y="4572000"/>
            <a:ext cx="6949440" cy="1280160"/>
          </a:xfrm>
          <a:prstGeom prst="roundRect">
            <a:avLst>
              <a:gd name="adj" fmla="val 8571"/>
            </a:avLst>
          </a:prstGeom>
          <a:solidFill>
            <a:schemeClr val="accent3"/>
          </a:solidFill>
          <a:ln/>
        </p:spPr>
      </p:sp>
      <p:sp>
        <p:nvSpPr>
          <p:cNvPr id="15" name="Data &amp; AI layer icon circle"/>
          <p:cNvSpPr/>
          <p:nvPr/>
        </p:nvSpPr>
        <p:spPr>
          <a:xfrm>
            <a:off x="868680" y="4846320"/>
            <a:ext cx="731520" cy="731520"/>
          </a:xfrm>
          <a:prstGeom prst="ellipse">
            <a:avLst/>
          </a:prstGeom>
          <a:solidFill>
            <a:schemeClr val="accent2"/>
          </a:solidFill>
          <a:ln/>
        </p:spPr>
      </p:sp>
      <p:pic>
        <p:nvPicPr>
          <p:cNvPr id="16" name="Data &amp; AI layer icon" descr="Data &amp; AI layer icon"/>
          <p:cNvPicPr>
            <a:picLocks noChangeAspect="1"/>
          </p:cNvPicPr>
          <p:nvPr/>
        </p:nvPicPr>
        <p:blipFill>
          <a:blip r:embed="rId5"/>
          <a:stretch>
            <a:fillRect/>
          </a:stretch>
        </p:blipFill>
        <p:spPr>
          <a:xfrm>
            <a:off x="1058875" y="5036515"/>
            <a:ext cx="351130" cy="351130"/>
          </a:xfrm>
          <a:prstGeom prst="rect">
            <a:avLst/>
          </a:prstGeom>
        </p:spPr>
      </p:pic>
      <p:sp>
        <p:nvSpPr>
          <p:cNvPr id="17" name="Text 11"/>
          <p:cNvSpPr txBox="1"/>
          <p:nvPr/>
        </p:nvSpPr>
        <p:spPr>
          <a:xfrm>
            <a:off x="1874520" y="4828032"/>
            <a:ext cx="5303520" cy="365760"/>
          </a:xfrm>
          <a:prstGeom prst="rect">
            <a:avLst/>
          </a:prstGeom>
          <a:noFill/>
          <a:ln/>
        </p:spPr>
        <p:txBody>
          <a:bodyPr wrap="square" lIns="0" tIns="0" rIns="0" bIns="0" rtlCol="0" anchor="t"/>
          <a:lstStyle/>
          <a:p>
            <a:pPr marL="0" indent="0">
              <a:buNone/>
            </a:pPr>
            <a:r>
              <a:rPr lang="en-US" sz="2000" b="1" dirty="0">
                <a:solidFill>
                  <a:schemeClr val="bg1"/>
                </a:solidFill>
              </a:rPr>
              <a:t>Data &amp; AI layer</a:t>
            </a:r>
            <a:endParaRPr lang="en-US" sz="2000" dirty="0"/>
          </a:p>
        </p:txBody>
      </p:sp>
      <p:sp>
        <p:nvSpPr>
          <p:cNvPr id="18" name="Text 12"/>
          <p:cNvSpPr txBox="1"/>
          <p:nvPr/>
        </p:nvSpPr>
        <p:spPr>
          <a:xfrm>
            <a:off x="1874520" y="5285232"/>
            <a:ext cx="5303520" cy="365760"/>
          </a:xfrm>
          <a:prstGeom prst="rect">
            <a:avLst/>
          </a:prstGeom>
          <a:noFill/>
          <a:ln/>
        </p:spPr>
        <p:txBody>
          <a:bodyPr wrap="square" lIns="0" tIns="0" rIns="0" bIns="0" rtlCol="0" anchor="t"/>
          <a:lstStyle/>
          <a:p>
            <a:pPr marL="0" indent="0">
              <a:buNone/>
            </a:pPr>
            <a:r>
              <a:rPr lang="en-US" sz="1400" dirty="0">
                <a:solidFill>
                  <a:schemeClr val="bg1"/>
                </a:solidFill>
              </a:rPr>
              <a:t>SQLite store, MiniLM embeddings, similarity scoring</a:t>
            </a:r>
            <a:endParaRPr lang="en-US" sz="1400" dirty="0"/>
          </a:p>
        </p:txBody>
      </p:sp>
      <p:sp>
        <p:nvSpPr>
          <p:cNvPr id="19" name="Tech stack card"/>
          <p:cNvSpPr/>
          <p:nvPr/>
        </p:nvSpPr>
        <p:spPr>
          <a:xfrm>
            <a:off x="7863840" y="1554480"/>
            <a:ext cx="3776472" cy="4297680"/>
          </a:xfrm>
          <a:prstGeom prst="roundRect">
            <a:avLst>
              <a:gd name="adj" fmla="val 2906"/>
            </a:avLst>
          </a:prstGeom>
          <a:solidFill>
            <a:schemeClr val="bg2"/>
          </a:solidFill>
          <a:ln/>
        </p:spPr>
      </p:sp>
      <p:sp>
        <p:nvSpPr>
          <p:cNvPr id="20" name="Text 14"/>
          <p:cNvSpPr txBox="1"/>
          <p:nvPr/>
        </p:nvSpPr>
        <p:spPr>
          <a:xfrm>
            <a:off x="8183880" y="1783080"/>
            <a:ext cx="3108960" cy="457200"/>
          </a:xfrm>
          <a:prstGeom prst="rect">
            <a:avLst/>
          </a:prstGeom>
          <a:noFill/>
          <a:ln/>
        </p:spPr>
        <p:txBody>
          <a:bodyPr wrap="square" lIns="0" tIns="0" rIns="0" bIns="0" rtlCol="0" anchor="t"/>
          <a:lstStyle/>
          <a:p>
            <a:pPr marL="0" indent="0">
              <a:buNone/>
            </a:pPr>
            <a:r>
              <a:rPr lang="en-US" sz="2200" b="1" dirty="0">
                <a:solidFill>
                  <a:schemeClr val="tx1"/>
                </a:solidFill>
              </a:rPr>
              <a:t>Tech stack</a:t>
            </a:r>
            <a:endParaRPr lang="en-US" sz="2200" dirty="0"/>
          </a:p>
        </p:txBody>
      </p:sp>
      <p:sp>
        <p:nvSpPr>
          <p:cNvPr id="21" name="Text 15"/>
          <p:cNvSpPr txBox="1"/>
          <p:nvPr/>
        </p:nvSpPr>
        <p:spPr>
          <a:xfrm>
            <a:off x="8183880" y="2423160"/>
            <a:ext cx="1280160" cy="365760"/>
          </a:xfrm>
          <a:prstGeom prst="rect">
            <a:avLst/>
          </a:prstGeom>
          <a:noFill/>
          <a:ln/>
        </p:spPr>
        <p:txBody>
          <a:bodyPr wrap="square" lIns="0" tIns="0" rIns="0" bIns="0" rtlCol="0" anchor="ctr"/>
          <a:lstStyle/>
          <a:p>
            <a:pPr marL="0" indent="0">
              <a:buNone/>
            </a:pPr>
            <a:r>
              <a:rPr lang="en-US" sz="1400" b="1" dirty="0">
                <a:solidFill>
                  <a:schemeClr val="accent1"/>
                </a:solidFill>
              </a:rPr>
              <a:t>Design</a:t>
            </a:r>
            <a:endParaRPr lang="en-US" sz="1400" dirty="0"/>
          </a:p>
        </p:txBody>
      </p:sp>
      <p:sp>
        <p:nvSpPr>
          <p:cNvPr id="22" name="Text 16"/>
          <p:cNvSpPr txBox="1"/>
          <p:nvPr/>
        </p:nvSpPr>
        <p:spPr>
          <a:xfrm>
            <a:off x="9509760" y="2423160"/>
            <a:ext cx="1920240" cy="365760"/>
          </a:xfrm>
          <a:prstGeom prst="rect">
            <a:avLst/>
          </a:prstGeom>
          <a:noFill/>
          <a:ln/>
        </p:spPr>
        <p:txBody>
          <a:bodyPr wrap="square" lIns="0" tIns="0" rIns="0" bIns="0" rtlCol="0" anchor="ctr"/>
          <a:lstStyle/>
          <a:p>
            <a:pPr marL="0" indent="0">
              <a:buNone/>
            </a:pPr>
            <a:r>
              <a:rPr lang="en-US" sz="1400" dirty="0"/>
              <a:t>Figma</a:t>
            </a:r>
          </a:p>
        </p:txBody>
      </p:sp>
      <p:sp>
        <p:nvSpPr>
          <p:cNvPr id="23" name="Text 17"/>
          <p:cNvSpPr txBox="1"/>
          <p:nvPr/>
        </p:nvSpPr>
        <p:spPr>
          <a:xfrm>
            <a:off x="8183880" y="3099816"/>
            <a:ext cx="1280160" cy="365760"/>
          </a:xfrm>
          <a:prstGeom prst="rect">
            <a:avLst/>
          </a:prstGeom>
          <a:noFill/>
          <a:ln/>
        </p:spPr>
        <p:txBody>
          <a:bodyPr wrap="square" lIns="0" tIns="0" rIns="0" bIns="0" rtlCol="0" anchor="ctr"/>
          <a:lstStyle/>
          <a:p>
            <a:pPr marL="0" indent="0">
              <a:buNone/>
            </a:pPr>
            <a:r>
              <a:rPr lang="en-US" sz="1400" b="1" dirty="0">
                <a:solidFill>
                  <a:schemeClr val="accent1"/>
                </a:solidFill>
              </a:rPr>
              <a:t>Frontend</a:t>
            </a:r>
            <a:endParaRPr lang="en-US" sz="1400" dirty="0"/>
          </a:p>
        </p:txBody>
      </p:sp>
      <p:sp>
        <p:nvSpPr>
          <p:cNvPr id="24" name="Text 18"/>
          <p:cNvSpPr txBox="1"/>
          <p:nvPr/>
        </p:nvSpPr>
        <p:spPr>
          <a:xfrm>
            <a:off x="9509760" y="3099816"/>
            <a:ext cx="1920240" cy="365760"/>
          </a:xfrm>
          <a:prstGeom prst="rect">
            <a:avLst/>
          </a:prstGeom>
          <a:noFill/>
          <a:ln/>
        </p:spPr>
        <p:txBody>
          <a:bodyPr wrap="square" lIns="0" tIns="0" rIns="0" bIns="0" rtlCol="0" anchor="ctr"/>
          <a:lstStyle/>
          <a:p>
            <a:pPr marL="0" indent="0">
              <a:buNone/>
            </a:pPr>
            <a:r>
              <a:rPr lang="en-US" sz="1400" dirty="0" err="1"/>
              <a:t>Streamlit</a:t>
            </a:r>
            <a:endParaRPr lang="en-US" sz="1400" dirty="0"/>
          </a:p>
        </p:txBody>
      </p:sp>
      <p:sp>
        <p:nvSpPr>
          <p:cNvPr id="25" name="Text 19"/>
          <p:cNvSpPr txBox="1"/>
          <p:nvPr/>
        </p:nvSpPr>
        <p:spPr>
          <a:xfrm>
            <a:off x="8183880" y="3776472"/>
            <a:ext cx="1280160" cy="365760"/>
          </a:xfrm>
          <a:prstGeom prst="rect">
            <a:avLst/>
          </a:prstGeom>
          <a:noFill/>
          <a:ln/>
        </p:spPr>
        <p:txBody>
          <a:bodyPr wrap="square" lIns="0" tIns="0" rIns="0" bIns="0" rtlCol="0" anchor="ctr"/>
          <a:lstStyle/>
          <a:p>
            <a:pPr marL="0" indent="0">
              <a:buNone/>
            </a:pPr>
            <a:r>
              <a:rPr lang="en-US" sz="1400" b="1" dirty="0">
                <a:solidFill>
                  <a:schemeClr val="accent1"/>
                </a:solidFill>
              </a:rPr>
              <a:t>Backend</a:t>
            </a:r>
            <a:endParaRPr lang="en-US" sz="1400" dirty="0"/>
          </a:p>
        </p:txBody>
      </p:sp>
      <p:sp>
        <p:nvSpPr>
          <p:cNvPr id="26" name="Text 20"/>
          <p:cNvSpPr txBox="1"/>
          <p:nvPr/>
        </p:nvSpPr>
        <p:spPr>
          <a:xfrm>
            <a:off x="9509760" y="3776472"/>
            <a:ext cx="1920240" cy="365760"/>
          </a:xfrm>
          <a:prstGeom prst="rect">
            <a:avLst/>
          </a:prstGeom>
          <a:noFill/>
          <a:ln/>
        </p:spPr>
        <p:txBody>
          <a:bodyPr wrap="square" lIns="0" tIns="0" rIns="0" bIns="0" rtlCol="0" anchor="ctr"/>
          <a:lstStyle/>
          <a:p>
            <a:pPr marL="0" indent="0">
              <a:buNone/>
            </a:pPr>
            <a:r>
              <a:rPr lang="en-US" sz="1400" dirty="0">
                <a:solidFill>
                  <a:schemeClr val="accent6"/>
                </a:solidFill>
              </a:rPr>
              <a:t>FastAPI (Python)</a:t>
            </a:r>
            <a:endParaRPr lang="en-US" sz="1400" dirty="0"/>
          </a:p>
        </p:txBody>
      </p:sp>
      <p:sp>
        <p:nvSpPr>
          <p:cNvPr id="27" name="Text 21"/>
          <p:cNvSpPr txBox="1"/>
          <p:nvPr/>
        </p:nvSpPr>
        <p:spPr>
          <a:xfrm>
            <a:off x="8183880" y="4453128"/>
            <a:ext cx="1280160" cy="365760"/>
          </a:xfrm>
          <a:prstGeom prst="rect">
            <a:avLst/>
          </a:prstGeom>
          <a:noFill/>
          <a:ln/>
        </p:spPr>
        <p:txBody>
          <a:bodyPr wrap="square" lIns="0" tIns="0" rIns="0" bIns="0" rtlCol="0" anchor="ctr"/>
          <a:lstStyle/>
          <a:p>
            <a:pPr marL="0" indent="0">
              <a:buNone/>
            </a:pPr>
            <a:r>
              <a:rPr lang="en-US" sz="1400" b="1" dirty="0">
                <a:solidFill>
                  <a:schemeClr val="accent1"/>
                </a:solidFill>
              </a:rPr>
              <a:t>Database</a:t>
            </a:r>
            <a:endParaRPr lang="en-US" sz="1400" dirty="0"/>
          </a:p>
        </p:txBody>
      </p:sp>
      <p:sp>
        <p:nvSpPr>
          <p:cNvPr id="28" name="Text 22"/>
          <p:cNvSpPr txBox="1"/>
          <p:nvPr/>
        </p:nvSpPr>
        <p:spPr>
          <a:xfrm>
            <a:off x="9509760" y="4453128"/>
            <a:ext cx="1920240" cy="365760"/>
          </a:xfrm>
          <a:prstGeom prst="rect">
            <a:avLst/>
          </a:prstGeom>
          <a:noFill/>
          <a:ln/>
        </p:spPr>
        <p:txBody>
          <a:bodyPr wrap="square" lIns="0" tIns="0" rIns="0" bIns="0" rtlCol="0" anchor="ctr"/>
          <a:lstStyle/>
          <a:p>
            <a:pPr marL="0" indent="0">
              <a:buNone/>
            </a:pPr>
            <a:r>
              <a:rPr lang="en-US" sz="1400" dirty="0">
                <a:solidFill>
                  <a:schemeClr val="accent6"/>
                </a:solidFill>
              </a:rPr>
              <a:t>SQLite (SQLAlchemy)</a:t>
            </a:r>
            <a:endParaRPr lang="en-US" sz="1400" dirty="0"/>
          </a:p>
        </p:txBody>
      </p:sp>
      <p:sp>
        <p:nvSpPr>
          <p:cNvPr id="29" name="Text 23"/>
          <p:cNvSpPr txBox="1"/>
          <p:nvPr/>
        </p:nvSpPr>
        <p:spPr>
          <a:xfrm>
            <a:off x="8183880" y="5129784"/>
            <a:ext cx="1280160" cy="365760"/>
          </a:xfrm>
          <a:prstGeom prst="rect">
            <a:avLst/>
          </a:prstGeom>
          <a:noFill/>
          <a:ln/>
        </p:spPr>
        <p:txBody>
          <a:bodyPr wrap="square" lIns="0" tIns="0" rIns="0" bIns="0" rtlCol="0" anchor="ctr"/>
          <a:lstStyle/>
          <a:p>
            <a:pPr marL="0" indent="0">
              <a:buNone/>
            </a:pPr>
            <a:r>
              <a:rPr lang="en-US" sz="1400" b="1" dirty="0">
                <a:solidFill>
                  <a:schemeClr val="accent1"/>
                </a:solidFill>
              </a:rPr>
              <a:t>AI / APIs</a:t>
            </a:r>
            <a:endParaRPr lang="en-US" sz="1400" dirty="0"/>
          </a:p>
        </p:txBody>
      </p:sp>
      <p:sp>
        <p:nvSpPr>
          <p:cNvPr id="30" name="Text 24"/>
          <p:cNvSpPr txBox="1"/>
          <p:nvPr/>
        </p:nvSpPr>
        <p:spPr>
          <a:xfrm>
            <a:off x="9509760" y="5129784"/>
            <a:ext cx="1920240" cy="365760"/>
          </a:xfrm>
          <a:prstGeom prst="rect">
            <a:avLst/>
          </a:prstGeom>
          <a:noFill/>
          <a:ln/>
        </p:spPr>
        <p:txBody>
          <a:bodyPr wrap="square" lIns="0" tIns="0" rIns="0" bIns="0" rtlCol="0" anchor="ctr"/>
          <a:lstStyle/>
          <a:p>
            <a:pPr marL="0" indent="0">
              <a:buNone/>
            </a:pPr>
            <a:r>
              <a:rPr lang="en-US" sz="1400" dirty="0"/>
              <a:t>Anti-Gravity, </a:t>
            </a:r>
            <a:r>
              <a:rPr lang="en-US" sz="1400" dirty="0" err="1"/>
              <a:t>OpenCode</a:t>
            </a:r>
            <a:endParaRPr lang="en-US" sz="1400" dirty="0"/>
          </a:p>
        </p:txBody>
      </p:sp>
      <p:sp>
        <p:nvSpPr>
          <p:cNvPr id="3"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2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365760"/>
            <a:ext cx="10058400" cy="822960"/>
          </a:xfrm>
          <a:prstGeom prst="rect">
            <a:avLst/>
          </a:prstGeom>
          <a:noFill/>
          <a:ln/>
        </p:spPr>
        <p:txBody>
          <a:bodyPr wrap="square" lIns="0" tIns="0" rIns="0" bIns="0" rtlCol="0" anchor="ctr"/>
          <a:lstStyle/>
          <a:p>
            <a:pPr marL="0" indent="0" algn="l">
              <a:buNone/>
            </a:pPr>
            <a:r>
              <a:rPr lang="en-US" sz="3600" b="1" dirty="0">
                <a:solidFill>
                  <a:schemeClr val="tx1"/>
                </a:solidFill>
              </a:rPr>
              <a:t>Innovation &amp; Differentiation</a:t>
            </a:r>
            <a:endParaRPr lang="en-US" sz="3600" dirty="0"/>
          </a:p>
        </p:txBody>
      </p:sp>
      <p:graphicFrame>
        <p:nvGraphicFramePr>
          <p:cNvPr id="8" name="Comparison table"/>
          <p:cNvGraphicFramePr>
            <a:graphicFrameLocks noGrp="1"/>
          </p:cNvGraphicFramePr>
          <p:nvPr>
            <p:extLst>
              <p:ext uri="{D42A27DB-BD31-4B8C-83A1-F6EECF244321}">
                <p14:modId xmlns:p14="http://schemas.microsoft.com/office/powerpoint/2010/main" val="463068533"/>
              </p:ext>
            </p:extLst>
          </p:nvPr>
        </p:nvGraphicFramePr>
        <p:xfrm>
          <a:off x="548640" y="1554480"/>
          <a:ext cx="11091672" cy="3474720"/>
        </p:xfrm>
        <a:graphic>
          <a:graphicData uri="http://schemas.openxmlformats.org/drawingml/2006/table">
            <a:tbl>
              <a:tblPr/>
              <a:tblGrid>
                <a:gridCol w="265176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233672">
                  <a:extLst>
                    <a:ext uri="{9D8B030D-6E8A-4147-A177-3AD203B41FA5}">
                      <a16:colId xmlns:a16="http://schemas.microsoft.com/office/drawing/2014/main" val="20002"/>
                    </a:ext>
                  </a:extLst>
                </a:gridCol>
              </a:tblGrid>
              <a:tr h="548640">
                <a:tc>
                  <a:txBody>
                    <a:bodyPr/>
                    <a:lstStyle/>
                    <a:p>
                      <a:pPr marL="0" indent="0">
                        <a:buNone/>
                      </a:pPr>
                      <a:r>
                        <a:rPr lang="en-US" sz="1600" b="1" dirty="0">
                          <a:solidFill>
                            <a:srgbClr val="FFFFFF"/>
                          </a:solidFill>
                        </a:rPr>
                        <a:t>Aspect</a:t>
                      </a:r>
                      <a:endParaRPr lang="en-US" sz="1600" dirty="0"/>
                    </a:p>
                  </a:txBody>
                  <a:tcPr marL="137160" marR="137160" marT="0" marB="0" anchor="ctr">
                    <a:lnL w="9525" cap="flat" cmpd="sng" algn="ctr">
                      <a:solidFill>
                        <a:srgbClr val="CFDDF5"/>
                      </a:solidFill>
                      <a:prstDash val="solid"/>
                      <a:round/>
                      <a:headEnd type="none" w="med" len="med"/>
                      <a:tailEnd type="none" w="med" len="med"/>
                    </a:lnL>
                    <a:lnR w="9525" cap="flat" cmpd="sng" algn="ctr">
                      <a:solidFill>
                        <a:srgbClr val="CFDDF5"/>
                      </a:solidFill>
                      <a:prstDash val="solid"/>
                      <a:round/>
                      <a:headEnd type="none" w="med" len="med"/>
                      <a:tailEnd type="none" w="med" len="med"/>
                    </a:lnR>
                    <a:lnT w="9525" cap="flat" cmpd="sng" algn="ctr">
                      <a:solidFill>
                        <a:srgbClr val="CFDDF5"/>
                      </a:solidFill>
                      <a:prstDash val="solid"/>
                      <a:round/>
                      <a:headEnd type="none" w="med" len="med"/>
                      <a:tailEnd type="none" w="med" len="med"/>
                    </a:lnT>
                    <a:lnB w="9525" cap="flat" cmpd="sng" algn="ctr">
                      <a:solidFill>
                        <a:srgbClr val="CFDDF5"/>
                      </a:solidFill>
                      <a:prstDash val="solid"/>
                      <a:round/>
                      <a:headEnd type="none" w="med" len="med"/>
                      <a:tailEnd type="none" w="med" len="med"/>
                    </a:lnB>
                    <a:solidFill>
                      <a:srgbClr val="1F6FEB"/>
                    </a:solidFill>
                  </a:tcPr>
                </a:tc>
                <a:tc>
                  <a:txBody>
                    <a:bodyPr/>
                    <a:lstStyle/>
                    <a:p>
                      <a:pPr marL="0" indent="0">
                        <a:buNone/>
                      </a:pPr>
                      <a:r>
                        <a:rPr lang="en-US" sz="1600" b="1" dirty="0">
                          <a:solidFill>
                            <a:srgbClr val="FFFFFF"/>
                          </a:solidFill>
                        </a:rPr>
                        <a:t>Existing solutions</a:t>
                      </a:r>
                      <a:endParaRPr lang="en-US" sz="1600" dirty="0"/>
                    </a:p>
                  </a:txBody>
                  <a:tcPr marL="137160" marR="137160" marT="0" marB="0" anchor="ctr">
                    <a:lnL w="9525" cap="flat" cmpd="sng" algn="ctr">
                      <a:solidFill>
                        <a:srgbClr val="CFDDF5"/>
                      </a:solidFill>
                      <a:prstDash val="solid"/>
                      <a:round/>
                      <a:headEnd type="none" w="med" len="med"/>
                      <a:tailEnd type="none" w="med" len="med"/>
                    </a:lnL>
                    <a:lnR w="9525" cap="flat" cmpd="sng" algn="ctr">
                      <a:solidFill>
                        <a:srgbClr val="CFDDF5"/>
                      </a:solidFill>
                      <a:prstDash val="solid"/>
                      <a:round/>
                      <a:headEnd type="none" w="med" len="med"/>
                      <a:tailEnd type="none" w="med" len="med"/>
                    </a:lnR>
                    <a:lnT w="9525" cap="flat" cmpd="sng" algn="ctr">
                      <a:solidFill>
                        <a:srgbClr val="CFDDF5"/>
                      </a:solidFill>
                      <a:prstDash val="solid"/>
                      <a:round/>
                      <a:headEnd type="none" w="med" len="med"/>
                      <a:tailEnd type="none" w="med" len="med"/>
                    </a:lnT>
                    <a:lnB w="9525" cap="flat" cmpd="sng" algn="ctr">
                      <a:solidFill>
                        <a:srgbClr val="CFDDF5"/>
                      </a:solidFill>
                      <a:prstDash val="solid"/>
                      <a:round/>
                      <a:headEnd type="none" w="med" len="med"/>
                      <a:tailEnd type="none" w="med" len="med"/>
                    </a:lnB>
                    <a:solidFill>
                      <a:srgbClr val="1F6FEB"/>
                    </a:solidFill>
                  </a:tcPr>
                </a:tc>
                <a:tc>
                  <a:txBody>
                    <a:bodyPr/>
                    <a:lstStyle/>
                    <a:p>
                      <a:pPr marL="0" indent="0">
                        <a:buNone/>
                      </a:pPr>
                      <a:r>
                        <a:rPr lang="en-US" sz="1600" b="1" dirty="0">
                          <a:solidFill>
                            <a:srgbClr val="FFFFFF"/>
                          </a:solidFill>
                        </a:rPr>
                        <a:t>Our solution</a:t>
                      </a:r>
                      <a:endParaRPr lang="en-US" sz="1600" dirty="0"/>
                    </a:p>
                  </a:txBody>
                  <a:tcPr marL="137160" marR="137160" marT="0" marB="0" anchor="ctr">
                    <a:lnL w="9525" cap="flat" cmpd="sng" algn="ctr">
                      <a:solidFill>
                        <a:srgbClr val="CFDDF5"/>
                      </a:solidFill>
                      <a:prstDash val="solid"/>
                      <a:round/>
                      <a:headEnd type="none" w="med" len="med"/>
                      <a:tailEnd type="none" w="med" len="med"/>
                    </a:lnL>
                    <a:lnR w="9525" cap="flat" cmpd="sng" algn="ctr">
                      <a:solidFill>
                        <a:srgbClr val="CFDDF5"/>
                      </a:solidFill>
                      <a:prstDash val="solid"/>
                      <a:round/>
                      <a:headEnd type="none" w="med" len="med"/>
                      <a:tailEnd type="none" w="med" len="med"/>
                    </a:lnR>
                    <a:lnT w="9525" cap="flat" cmpd="sng" algn="ctr">
                      <a:solidFill>
                        <a:srgbClr val="CFDDF5"/>
                      </a:solidFill>
                      <a:prstDash val="solid"/>
                      <a:round/>
                      <a:headEnd type="none" w="med" len="med"/>
                      <a:tailEnd type="none" w="med" len="med"/>
                    </a:lnT>
                    <a:lnB w="9525" cap="flat" cmpd="sng" algn="ctr">
                      <a:solidFill>
                        <a:srgbClr val="CFDDF5"/>
                      </a:solidFill>
                      <a:prstDash val="solid"/>
                      <a:round/>
                      <a:headEnd type="none" w="med" len="med"/>
                      <a:tailEnd type="none" w="med" len="med"/>
                    </a:lnB>
                    <a:solidFill>
                      <a:srgbClr val="1F6FEB"/>
                    </a:solidFill>
                  </a:tcPr>
                </a:tc>
                <a:extLst>
                  <a:ext uri="{0D108BD9-81ED-4DB2-BD59-A6C34878D82A}">
                    <a16:rowId xmlns:a16="http://schemas.microsoft.com/office/drawing/2014/main" val="10000"/>
                  </a:ext>
                </a:extLst>
              </a:tr>
              <a:tr h="731520">
                <a:tc>
                  <a:txBody>
                    <a:bodyPr/>
                    <a:lstStyle/>
                    <a:p>
                      <a:pPr marL="0" indent="0">
                        <a:buNone/>
                      </a:pPr>
                      <a:r>
                        <a:rPr lang="en-US" sz="1400" b="1" dirty="0">
                          <a:solidFill>
                            <a:srgbClr val="071A3D"/>
                          </a:solidFill>
                        </a:rPr>
                        <a:t>Ease of use</a:t>
                      </a:r>
                      <a:endParaRPr lang="en-US" sz="1400" dirty="0"/>
                    </a:p>
                  </a:txBody>
                  <a:tcPr marL="137160" marR="137160" marT="0" marB="0" anchor="ctr">
                    <a:lnL w="9525" cap="flat" cmpd="sng" algn="ctr">
                      <a:solidFill>
                        <a:srgbClr val="CFDDF5"/>
                      </a:solidFill>
                      <a:prstDash val="solid"/>
                      <a:round/>
                      <a:headEnd type="none" w="med" len="med"/>
                      <a:tailEnd type="none" w="med" len="med"/>
                    </a:lnL>
                    <a:lnR w="9525" cap="flat" cmpd="sng" algn="ctr">
                      <a:solidFill>
                        <a:srgbClr val="CFDDF5"/>
                      </a:solidFill>
                      <a:prstDash val="solid"/>
                      <a:round/>
                      <a:headEnd type="none" w="med" len="med"/>
                      <a:tailEnd type="none" w="med" len="med"/>
                    </a:lnR>
                    <a:lnT w="9525" cap="flat" cmpd="sng" algn="ctr">
                      <a:solidFill>
                        <a:srgbClr val="CFDDF5"/>
                      </a:solidFill>
                      <a:prstDash val="solid"/>
                      <a:round/>
                      <a:headEnd type="none" w="med" len="med"/>
                      <a:tailEnd type="none" w="med" len="med"/>
                    </a:lnT>
                    <a:lnB w="9525" cap="flat" cmpd="sng" algn="ctr">
                      <a:solidFill>
                        <a:srgbClr val="CFDDF5"/>
                      </a:solidFill>
                      <a:prstDash val="solid"/>
                      <a:round/>
                      <a:headEnd type="none" w="med" len="med"/>
                      <a:tailEnd type="none" w="med" len="med"/>
                    </a:lnB>
                    <a:solidFill>
                      <a:srgbClr val="EEF4FD"/>
                    </a:solidFill>
                  </a:tcPr>
                </a:tc>
                <a:tc>
                  <a:txBody>
                    <a:bodyPr/>
                    <a:lstStyle/>
                    <a:p>
                      <a:pPr marL="0" indent="0">
                        <a:buNone/>
                      </a:pPr>
                      <a:r>
                        <a:rPr lang="en-IN" sz="1400" b="0" dirty="0"/>
                        <a:t>Admin setup, licences, logins</a:t>
                      </a:r>
                      <a:endParaRPr lang="en-IN" sz="1600" dirty="0"/>
                    </a:p>
                  </a:txBody>
                  <a:tcPr marL="137160" marR="137160" marT="0" marB="0" anchor="ctr">
                    <a:lnL w="9525" cap="flat" cmpd="sng" algn="ctr">
                      <a:solidFill>
                        <a:srgbClr val="CFDDF5"/>
                      </a:solidFill>
                      <a:prstDash val="solid"/>
                      <a:round/>
                      <a:headEnd type="none" w="med" len="med"/>
                      <a:tailEnd type="none" w="med" len="med"/>
                    </a:lnL>
                    <a:lnR w="9525" cap="flat" cmpd="sng" algn="ctr">
                      <a:solidFill>
                        <a:srgbClr val="CFDDF5"/>
                      </a:solidFill>
                      <a:prstDash val="solid"/>
                      <a:round/>
                      <a:headEnd type="none" w="med" len="med"/>
                      <a:tailEnd type="none" w="med" len="med"/>
                    </a:lnR>
                    <a:lnT w="9525" cap="flat" cmpd="sng" algn="ctr">
                      <a:solidFill>
                        <a:srgbClr val="CFDDF5"/>
                      </a:solidFill>
                      <a:prstDash val="solid"/>
                      <a:round/>
                      <a:headEnd type="none" w="med" len="med"/>
                      <a:tailEnd type="none" w="med" len="med"/>
                    </a:lnT>
                    <a:lnB w="9525" cap="flat" cmpd="sng" algn="ctr">
                      <a:solidFill>
                        <a:srgbClr val="CFDDF5"/>
                      </a:solidFill>
                      <a:prstDash val="solid"/>
                      <a:round/>
                      <a:headEnd type="none" w="med" len="med"/>
                      <a:tailEnd type="none" w="med" len="med"/>
                    </a:lnB>
                  </a:tcPr>
                </a:tc>
                <a:tc>
                  <a:txBody>
                    <a:bodyPr/>
                    <a:lstStyle/>
                    <a:p>
                      <a:pPr marL="0" indent="0">
                        <a:buNone/>
                      </a:pPr>
                      <a:r>
                        <a:rPr lang="en-US" sz="1400" dirty="0">
                          <a:solidFill>
                            <a:srgbClr val="5F6F8C"/>
                          </a:solidFill>
                        </a:rPr>
                        <a:t>Highlighted passages with plain-language reasons</a:t>
                      </a:r>
                      <a:endParaRPr lang="en-US" sz="1400" dirty="0"/>
                    </a:p>
                  </a:txBody>
                  <a:tcPr marL="137160" marR="137160" marT="0" marB="0" anchor="ctr">
                    <a:lnL w="9525" cap="flat" cmpd="sng" algn="ctr">
                      <a:solidFill>
                        <a:srgbClr val="CFDDF5"/>
                      </a:solidFill>
                      <a:prstDash val="solid"/>
                      <a:round/>
                      <a:headEnd type="none" w="med" len="med"/>
                      <a:tailEnd type="none" w="med" len="med"/>
                    </a:lnL>
                    <a:lnR w="9525" cap="flat" cmpd="sng" algn="ctr">
                      <a:solidFill>
                        <a:srgbClr val="CFDDF5"/>
                      </a:solidFill>
                      <a:prstDash val="solid"/>
                      <a:round/>
                      <a:headEnd type="none" w="med" len="med"/>
                      <a:tailEnd type="none" w="med" len="med"/>
                    </a:lnR>
                    <a:lnT w="9525" cap="flat" cmpd="sng" algn="ctr">
                      <a:solidFill>
                        <a:srgbClr val="CFDDF5"/>
                      </a:solidFill>
                      <a:prstDash val="solid"/>
                      <a:round/>
                      <a:headEnd type="none" w="med" len="med"/>
                      <a:tailEnd type="none" w="med" len="med"/>
                    </a:lnT>
                    <a:lnB w="9525" cap="flat" cmpd="sng" algn="ctr">
                      <a:solidFill>
                        <a:srgbClr val="CFDDF5"/>
                      </a:solidFill>
                      <a:prstDash val="solid"/>
                      <a:round/>
                      <a:headEnd type="none" w="med" len="med"/>
                      <a:tailEnd type="none" w="med" len="med"/>
                    </a:lnB>
                  </a:tcPr>
                </a:tc>
                <a:extLst>
                  <a:ext uri="{0D108BD9-81ED-4DB2-BD59-A6C34878D82A}">
                    <a16:rowId xmlns:a16="http://schemas.microsoft.com/office/drawing/2014/main" val="10001"/>
                  </a:ext>
                </a:extLst>
              </a:tr>
              <a:tr h="731520">
                <a:tc>
                  <a:txBody>
                    <a:bodyPr/>
                    <a:lstStyle/>
                    <a:p>
                      <a:pPr marL="0" indent="0">
                        <a:buNone/>
                      </a:pPr>
                      <a:r>
                        <a:rPr lang="en-US" sz="1400" b="1" dirty="0">
                          <a:solidFill>
                            <a:srgbClr val="071A3D"/>
                          </a:solidFill>
                        </a:rPr>
                        <a:t>Cost / access</a:t>
                      </a:r>
                      <a:endParaRPr lang="en-US" sz="1400" dirty="0"/>
                    </a:p>
                  </a:txBody>
                  <a:tcPr marL="137160" marR="137160" marT="0" marB="0" anchor="ctr">
                    <a:lnL w="9525" cap="flat" cmpd="sng" algn="ctr">
                      <a:solidFill>
                        <a:srgbClr val="CFDDF5"/>
                      </a:solidFill>
                      <a:prstDash val="solid"/>
                      <a:round/>
                      <a:headEnd type="none" w="med" len="med"/>
                      <a:tailEnd type="none" w="med" len="med"/>
                    </a:lnL>
                    <a:lnR w="9525" cap="flat" cmpd="sng" algn="ctr">
                      <a:solidFill>
                        <a:srgbClr val="CFDDF5"/>
                      </a:solidFill>
                      <a:prstDash val="solid"/>
                      <a:round/>
                      <a:headEnd type="none" w="med" len="med"/>
                      <a:tailEnd type="none" w="med" len="med"/>
                    </a:lnR>
                    <a:lnT w="9525" cap="flat" cmpd="sng" algn="ctr">
                      <a:solidFill>
                        <a:srgbClr val="CFDDF5"/>
                      </a:solidFill>
                      <a:prstDash val="solid"/>
                      <a:round/>
                      <a:headEnd type="none" w="med" len="med"/>
                      <a:tailEnd type="none" w="med" len="med"/>
                    </a:lnT>
                    <a:lnB w="9525" cap="flat" cmpd="sng" algn="ctr">
                      <a:solidFill>
                        <a:srgbClr val="CFDDF5"/>
                      </a:solidFill>
                      <a:prstDash val="solid"/>
                      <a:round/>
                      <a:headEnd type="none" w="med" len="med"/>
                      <a:tailEnd type="none" w="med" len="med"/>
                    </a:lnB>
                    <a:solidFill>
                      <a:srgbClr val="EEF4FD"/>
                    </a:solidFill>
                  </a:tcPr>
                </a:tc>
                <a:tc>
                  <a:txBody>
                    <a:bodyPr/>
                    <a:lstStyle/>
                    <a:p>
                      <a:pPr marL="0" indent="0">
                        <a:buNone/>
                      </a:pPr>
                      <a:r>
                        <a:rPr lang="en-US" sz="1400" dirty="0">
                          <a:solidFill>
                            <a:srgbClr val="5F6F8C"/>
                          </a:solidFill>
                        </a:rPr>
                        <a:t>Often paid and closed, hard to audit</a:t>
                      </a:r>
                      <a:endParaRPr lang="en-US" sz="1400" dirty="0"/>
                    </a:p>
                  </a:txBody>
                  <a:tcPr marL="137160" marR="137160" marT="0" marB="0" anchor="ctr">
                    <a:lnL w="9525" cap="flat" cmpd="sng" algn="ctr">
                      <a:solidFill>
                        <a:srgbClr val="CFDDF5"/>
                      </a:solidFill>
                      <a:prstDash val="solid"/>
                      <a:round/>
                      <a:headEnd type="none" w="med" len="med"/>
                      <a:tailEnd type="none" w="med" len="med"/>
                    </a:lnL>
                    <a:lnR w="9525" cap="flat" cmpd="sng" algn="ctr">
                      <a:solidFill>
                        <a:srgbClr val="CFDDF5"/>
                      </a:solidFill>
                      <a:prstDash val="solid"/>
                      <a:round/>
                      <a:headEnd type="none" w="med" len="med"/>
                      <a:tailEnd type="none" w="med" len="med"/>
                    </a:lnR>
                    <a:lnT w="9525" cap="flat" cmpd="sng" algn="ctr">
                      <a:solidFill>
                        <a:srgbClr val="CFDDF5"/>
                      </a:solidFill>
                      <a:prstDash val="solid"/>
                      <a:round/>
                      <a:headEnd type="none" w="med" len="med"/>
                      <a:tailEnd type="none" w="med" len="med"/>
                    </a:lnT>
                    <a:lnB w="9525" cap="flat" cmpd="sng" algn="ctr">
                      <a:solidFill>
                        <a:srgbClr val="CFDDF5"/>
                      </a:solidFill>
                      <a:prstDash val="solid"/>
                      <a:round/>
                      <a:headEnd type="none" w="med" len="med"/>
                      <a:tailEnd type="none" w="med" len="med"/>
                    </a:lnB>
                  </a:tcPr>
                </a:tc>
                <a:tc>
                  <a:txBody>
                    <a:bodyPr/>
                    <a:lstStyle/>
                    <a:p>
                      <a:pPr marL="0" indent="0">
                        <a:buNone/>
                      </a:pPr>
                      <a:r>
                        <a:rPr lang="en-US" sz="1400" dirty="0">
                          <a:solidFill>
                            <a:srgbClr val="5F6F8C"/>
                          </a:solidFill>
                        </a:rPr>
                        <a:t>Fully open source, runs on a laptop</a:t>
                      </a:r>
                      <a:endParaRPr lang="en-US" sz="1400" dirty="0"/>
                    </a:p>
                  </a:txBody>
                  <a:tcPr marL="137160" marR="137160" marT="0" marB="0" anchor="ctr">
                    <a:lnL w="9525" cap="flat" cmpd="sng" algn="ctr">
                      <a:solidFill>
                        <a:srgbClr val="CFDDF5"/>
                      </a:solidFill>
                      <a:prstDash val="solid"/>
                      <a:round/>
                      <a:headEnd type="none" w="med" len="med"/>
                      <a:tailEnd type="none" w="med" len="med"/>
                    </a:lnL>
                    <a:lnR w="9525" cap="flat" cmpd="sng" algn="ctr">
                      <a:solidFill>
                        <a:srgbClr val="CFDDF5"/>
                      </a:solidFill>
                      <a:prstDash val="solid"/>
                      <a:round/>
                      <a:headEnd type="none" w="med" len="med"/>
                      <a:tailEnd type="none" w="med" len="med"/>
                    </a:lnR>
                    <a:lnT w="9525" cap="flat" cmpd="sng" algn="ctr">
                      <a:solidFill>
                        <a:srgbClr val="CFDDF5"/>
                      </a:solidFill>
                      <a:prstDash val="solid"/>
                      <a:round/>
                      <a:headEnd type="none" w="med" len="med"/>
                      <a:tailEnd type="none" w="med" len="med"/>
                    </a:lnT>
                    <a:lnB w="9525" cap="flat" cmpd="sng" algn="ctr">
                      <a:solidFill>
                        <a:srgbClr val="CFDDF5"/>
                      </a:solidFill>
                      <a:prstDash val="solid"/>
                      <a:round/>
                      <a:headEnd type="none" w="med" len="med"/>
                      <a:tailEnd type="none" w="med" len="med"/>
                    </a:lnB>
                  </a:tcPr>
                </a:tc>
                <a:extLst>
                  <a:ext uri="{0D108BD9-81ED-4DB2-BD59-A6C34878D82A}">
                    <a16:rowId xmlns:a16="http://schemas.microsoft.com/office/drawing/2014/main" val="10002"/>
                  </a:ext>
                </a:extLst>
              </a:tr>
              <a:tr h="731520">
                <a:tc>
                  <a:txBody>
                    <a:bodyPr/>
                    <a:lstStyle/>
                    <a:p>
                      <a:pPr marL="0" indent="0">
                        <a:buNone/>
                      </a:pPr>
                      <a:r>
                        <a:rPr lang="en-US" sz="1400" b="1" dirty="0">
                          <a:solidFill>
                            <a:srgbClr val="071A3D"/>
                          </a:solidFill>
                        </a:rPr>
                        <a:t>Personalization</a:t>
                      </a:r>
                      <a:endParaRPr lang="en-US" sz="1400" dirty="0"/>
                    </a:p>
                  </a:txBody>
                  <a:tcPr marL="137160" marR="137160" marT="0" marB="0" anchor="ctr">
                    <a:lnL w="9525" cap="flat" cmpd="sng" algn="ctr">
                      <a:solidFill>
                        <a:srgbClr val="CFDDF5"/>
                      </a:solidFill>
                      <a:prstDash val="solid"/>
                      <a:round/>
                      <a:headEnd type="none" w="med" len="med"/>
                      <a:tailEnd type="none" w="med" len="med"/>
                    </a:lnL>
                    <a:lnR w="9525" cap="flat" cmpd="sng" algn="ctr">
                      <a:solidFill>
                        <a:srgbClr val="CFDDF5"/>
                      </a:solidFill>
                      <a:prstDash val="solid"/>
                      <a:round/>
                      <a:headEnd type="none" w="med" len="med"/>
                      <a:tailEnd type="none" w="med" len="med"/>
                    </a:lnR>
                    <a:lnT w="9525" cap="flat" cmpd="sng" algn="ctr">
                      <a:solidFill>
                        <a:srgbClr val="CFDDF5"/>
                      </a:solidFill>
                      <a:prstDash val="solid"/>
                      <a:round/>
                      <a:headEnd type="none" w="med" len="med"/>
                      <a:tailEnd type="none" w="med" len="med"/>
                    </a:lnT>
                    <a:lnB w="9525" cap="flat" cmpd="sng" algn="ctr">
                      <a:solidFill>
                        <a:srgbClr val="CFDDF5"/>
                      </a:solidFill>
                      <a:prstDash val="solid"/>
                      <a:round/>
                      <a:headEnd type="none" w="med" len="med"/>
                      <a:tailEnd type="none" w="med" len="med"/>
                    </a:lnB>
                    <a:solidFill>
                      <a:srgbClr val="EEF4FD"/>
                    </a:solidFill>
                  </a:tcPr>
                </a:tc>
                <a:tc>
                  <a:txBody>
                    <a:bodyPr/>
                    <a:lstStyle/>
                    <a:p>
                      <a:pPr marL="0" indent="0">
                        <a:buNone/>
                      </a:pPr>
                      <a:r>
                        <a:rPr lang="en-US" sz="1400" dirty="0">
                          <a:solidFill>
                            <a:srgbClr val="5F6F8C"/>
                          </a:solidFill>
                        </a:rPr>
                        <a:t>One fixed threshold for every class</a:t>
                      </a:r>
                      <a:endParaRPr lang="en-US" sz="1400" dirty="0"/>
                    </a:p>
                  </a:txBody>
                  <a:tcPr marL="137160" marR="137160" marT="0" marB="0" anchor="ctr">
                    <a:lnL w="9525" cap="flat" cmpd="sng" algn="ctr">
                      <a:solidFill>
                        <a:srgbClr val="CFDDF5"/>
                      </a:solidFill>
                      <a:prstDash val="solid"/>
                      <a:round/>
                      <a:headEnd type="none" w="med" len="med"/>
                      <a:tailEnd type="none" w="med" len="med"/>
                    </a:lnL>
                    <a:lnR w="9525" cap="flat" cmpd="sng" algn="ctr">
                      <a:solidFill>
                        <a:srgbClr val="CFDDF5"/>
                      </a:solidFill>
                      <a:prstDash val="solid"/>
                      <a:round/>
                      <a:headEnd type="none" w="med" len="med"/>
                      <a:tailEnd type="none" w="med" len="med"/>
                    </a:lnR>
                    <a:lnT w="9525" cap="flat" cmpd="sng" algn="ctr">
                      <a:solidFill>
                        <a:srgbClr val="CFDDF5"/>
                      </a:solidFill>
                      <a:prstDash val="solid"/>
                      <a:round/>
                      <a:headEnd type="none" w="med" len="med"/>
                      <a:tailEnd type="none" w="med" len="med"/>
                    </a:lnT>
                    <a:lnB w="9525" cap="flat" cmpd="sng" algn="ctr">
                      <a:solidFill>
                        <a:srgbClr val="CFDDF5"/>
                      </a:solidFill>
                      <a:prstDash val="solid"/>
                      <a:round/>
                      <a:headEnd type="none" w="med" len="med"/>
                      <a:tailEnd type="none" w="med" len="med"/>
                    </a:lnB>
                  </a:tcPr>
                </a:tc>
                <a:tc>
                  <a:txBody>
                    <a:bodyPr/>
                    <a:lstStyle/>
                    <a:p>
                      <a:pPr marL="0" indent="0">
                        <a:buNone/>
                      </a:pPr>
                      <a:r>
                        <a:rPr lang="en-US" sz="1400" dirty="0">
                          <a:solidFill>
                            <a:srgbClr val="5F6F8C"/>
                          </a:solidFill>
                        </a:rPr>
                        <a:t>Threshold adapts to each batch's own baseline</a:t>
                      </a:r>
                      <a:endParaRPr lang="en-US" sz="1400" dirty="0"/>
                    </a:p>
                  </a:txBody>
                  <a:tcPr marL="137160" marR="137160" marT="0" marB="0" anchor="ctr">
                    <a:lnL w="9525" cap="flat" cmpd="sng" algn="ctr">
                      <a:solidFill>
                        <a:srgbClr val="CFDDF5"/>
                      </a:solidFill>
                      <a:prstDash val="solid"/>
                      <a:round/>
                      <a:headEnd type="none" w="med" len="med"/>
                      <a:tailEnd type="none" w="med" len="med"/>
                    </a:lnL>
                    <a:lnR w="9525" cap="flat" cmpd="sng" algn="ctr">
                      <a:solidFill>
                        <a:srgbClr val="CFDDF5"/>
                      </a:solidFill>
                      <a:prstDash val="solid"/>
                      <a:round/>
                      <a:headEnd type="none" w="med" len="med"/>
                      <a:tailEnd type="none" w="med" len="med"/>
                    </a:lnR>
                    <a:lnT w="9525" cap="flat" cmpd="sng" algn="ctr">
                      <a:solidFill>
                        <a:srgbClr val="CFDDF5"/>
                      </a:solidFill>
                      <a:prstDash val="solid"/>
                      <a:round/>
                      <a:headEnd type="none" w="med" len="med"/>
                      <a:tailEnd type="none" w="med" len="med"/>
                    </a:lnT>
                    <a:lnB w="9525" cap="flat" cmpd="sng" algn="ctr">
                      <a:solidFill>
                        <a:srgbClr val="CFDDF5"/>
                      </a:solidFill>
                      <a:prstDash val="solid"/>
                      <a:round/>
                      <a:headEnd type="none" w="med" len="med"/>
                      <a:tailEnd type="none" w="med" len="med"/>
                    </a:lnB>
                  </a:tcPr>
                </a:tc>
                <a:extLst>
                  <a:ext uri="{0D108BD9-81ED-4DB2-BD59-A6C34878D82A}">
                    <a16:rowId xmlns:a16="http://schemas.microsoft.com/office/drawing/2014/main" val="10003"/>
                  </a:ext>
                </a:extLst>
              </a:tr>
              <a:tr h="731520">
                <a:tc>
                  <a:txBody>
                    <a:bodyPr/>
                    <a:lstStyle/>
                    <a:p>
                      <a:pPr marL="0" indent="0">
                        <a:buNone/>
                      </a:pPr>
                      <a:r>
                        <a:rPr lang="en-US" sz="1400" b="1" dirty="0">
                          <a:solidFill>
                            <a:srgbClr val="071A3D"/>
                          </a:solidFill>
                        </a:rPr>
                        <a:t>Scalability</a:t>
                      </a:r>
                      <a:endParaRPr lang="en-US" sz="1400" dirty="0"/>
                    </a:p>
                  </a:txBody>
                  <a:tcPr marL="137160" marR="137160" marT="0" marB="0" anchor="ctr">
                    <a:lnL w="9525" cap="flat" cmpd="sng" algn="ctr">
                      <a:solidFill>
                        <a:srgbClr val="CFDDF5"/>
                      </a:solidFill>
                      <a:prstDash val="solid"/>
                      <a:round/>
                      <a:headEnd type="none" w="med" len="med"/>
                      <a:tailEnd type="none" w="med" len="med"/>
                    </a:lnL>
                    <a:lnR w="9525" cap="flat" cmpd="sng" algn="ctr">
                      <a:solidFill>
                        <a:srgbClr val="CFDDF5"/>
                      </a:solidFill>
                      <a:prstDash val="solid"/>
                      <a:round/>
                      <a:headEnd type="none" w="med" len="med"/>
                      <a:tailEnd type="none" w="med" len="med"/>
                    </a:lnR>
                    <a:lnT w="9525" cap="flat" cmpd="sng" algn="ctr">
                      <a:solidFill>
                        <a:srgbClr val="CFDDF5"/>
                      </a:solidFill>
                      <a:prstDash val="solid"/>
                      <a:round/>
                      <a:headEnd type="none" w="med" len="med"/>
                      <a:tailEnd type="none" w="med" len="med"/>
                    </a:lnT>
                    <a:lnB w="9525" cap="flat" cmpd="sng" algn="ctr">
                      <a:solidFill>
                        <a:srgbClr val="CFDDF5"/>
                      </a:solidFill>
                      <a:prstDash val="solid"/>
                      <a:round/>
                      <a:headEnd type="none" w="med" len="med"/>
                      <a:tailEnd type="none" w="med" len="med"/>
                    </a:lnB>
                    <a:solidFill>
                      <a:srgbClr val="EEF4FD"/>
                    </a:solidFill>
                  </a:tcPr>
                </a:tc>
                <a:tc>
                  <a:txBody>
                    <a:bodyPr/>
                    <a:lstStyle/>
                    <a:p>
                      <a:pPr marL="0" indent="0">
                        <a:buNone/>
                      </a:pPr>
                      <a:r>
                        <a:rPr lang="en-US" sz="1400" dirty="0">
                          <a:solidFill>
                            <a:srgbClr val="5F6F8C"/>
                          </a:solidFill>
                        </a:rPr>
                        <a:t>Pairwise text comparison slows down fast</a:t>
                      </a:r>
                      <a:endParaRPr lang="en-US" sz="1400" dirty="0"/>
                    </a:p>
                  </a:txBody>
                  <a:tcPr marL="137160" marR="137160" marT="0" marB="0" anchor="ctr">
                    <a:lnL w="9525" cap="flat" cmpd="sng" algn="ctr">
                      <a:solidFill>
                        <a:srgbClr val="CFDDF5"/>
                      </a:solidFill>
                      <a:prstDash val="solid"/>
                      <a:round/>
                      <a:headEnd type="none" w="med" len="med"/>
                      <a:tailEnd type="none" w="med" len="med"/>
                    </a:lnL>
                    <a:lnR w="9525" cap="flat" cmpd="sng" algn="ctr">
                      <a:solidFill>
                        <a:srgbClr val="CFDDF5"/>
                      </a:solidFill>
                      <a:prstDash val="solid"/>
                      <a:round/>
                      <a:headEnd type="none" w="med" len="med"/>
                      <a:tailEnd type="none" w="med" len="med"/>
                    </a:lnR>
                    <a:lnT w="9525" cap="flat" cmpd="sng" algn="ctr">
                      <a:solidFill>
                        <a:srgbClr val="CFDDF5"/>
                      </a:solidFill>
                      <a:prstDash val="solid"/>
                      <a:round/>
                      <a:headEnd type="none" w="med" len="med"/>
                      <a:tailEnd type="none" w="med" len="med"/>
                    </a:lnT>
                    <a:lnB w="9525" cap="flat" cmpd="sng" algn="ctr">
                      <a:solidFill>
                        <a:srgbClr val="CFDDF5"/>
                      </a:solidFill>
                      <a:prstDash val="solid"/>
                      <a:round/>
                      <a:headEnd type="none" w="med" len="med"/>
                      <a:tailEnd type="none" w="med" len="med"/>
                    </a:lnB>
                  </a:tcPr>
                </a:tc>
                <a:tc>
                  <a:txBody>
                    <a:bodyPr/>
                    <a:lstStyle/>
                    <a:p>
                      <a:pPr marL="0" indent="0">
                        <a:buNone/>
                      </a:pPr>
                      <a:r>
                        <a:rPr lang="en-US" sz="1400" dirty="0">
                          <a:solidFill>
                            <a:srgbClr val="5F6F8C"/>
                          </a:solidFill>
                        </a:rPr>
                        <a:t>Embed once, compare with one matrix multiply</a:t>
                      </a:r>
                      <a:endParaRPr lang="en-US" sz="1400" dirty="0"/>
                    </a:p>
                  </a:txBody>
                  <a:tcPr marL="137160" marR="137160" marT="0" marB="0" anchor="ctr">
                    <a:lnL w="9525" cap="flat" cmpd="sng" algn="ctr">
                      <a:solidFill>
                        <a:srgbClr val="CFDDF5"/>
                      </a:solidFill>
                      <a:prstDash val="solid"/>
                      <a:round/>
                      <a:headEnd type="none" w="med" len="med"/>
                      <a:tailEnd type="none" w="med" len="med"/>
                    </a:lnL>
                    <a:lnR w="9525" cap="flat" cmpd="sng" algn="ctr">
                      <a:solidFill>
                        <a:srgbClr val="CFDDF5"/>
                      </a:solidFill>
                      <a:prstDash val="solid"/>
                      <a:round/>
                      <a:headEnd type="none" w="med" len="med"/>
                      <a:tailEnd type="none" w="med" len="med"/>
                    </a:lnR>
                    <a:lnT w="9525" cap="flat" cmpd="sng" algn="ctr">
                      <a:solidFill>
                        <a:srgbClr val="CFDDF5"/>
                      </a:solidFill>
                      <a:prstDash val="solid"/>
                      <a:round/>
                      <a:headEnd type="none" w="med" len="med"/>
                      <a:tailEnd type="none" w="med" len="med"/>
                    </a:lnT>
                    <a:lnB w="9525" cap="flat" cmpd="sng" algn="ctr">
                      <a:solidFill>
                        <a:srgbClr val="CFDDF5"/>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Unique edge card"/>
          <p:cNvSpPr/>
          <p:nvPr/>
        </p:nvSpPr>
        <p:spPr>
          <a:xfrm>
            <a:off x="548640" y="5349240"/>
            <a:ext cx="11091672" cy="685800"/>
          </a:xfrm>
          <a:prstGeom prst="roundRect">
            <a:avLst>
              <a:gd name="adj" fmla="val 16000"/>
            </a:avLst>
          </a:prstGeom>
          <a:solidFill>
            <a:schemeClr val="accent2"/>
          </a:solidFill>
          <a:ln/>
        </p:spPr>
      </p:sp>
      <p:sp>
        <p:nvSpPr>
          <p:cNvPr id="6" name="Text 2"/>
          <p:cNvSpPr txBox="1"/>
          <p:nvPr/>
        </p:nvSpPr>
        <p:spPr>
          <a:xfrm>
            <a:off x="868680" y="5349240"/>
            <a:ext cx="10424160" cy="685800"/>
          </a:xfrm>
          <a:prstGeom prst="rect">
            <a:avLst/>
          </a:prstGeom>
          <a:noFill/>
          <a:ln/>
        </p:spPr>
        <p:txBody>
          <a:bodyPr wrap="square" lIns="0" tIns="0" rIns="0" bIns="0" rtlCol="0" anchor="ctr"/>
          <a:lstStyle/>
          <a:p>
            <a:pPr marL="0" indent="0">
              <a:buNone/>
            </a:pPr>
            <a:r>
              <a:rPr lang="en-US" sz="1800" b="1" dirty="0">
                <a:solidFill>
                  <a:schemeClr val="bg1"/>
                </a:solidFill>
              </a:rPr>
              <a:t>Our unique edge: tells copied, paraphrased and common text apart, with a human making the call</a:t>
            </a:r>
            <a:endParaRPr lang="en-US" sz="18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2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365760"/>
            <a:ext cx="10058400" cy="822960"/>
          </a:xfrm>
          <a:prstGeom prst="rect">
            <a:avLst/>
          </a:prstGeom>
          <a:noFill/>
          <a:ln/>
        </p:spPr>
        <p:txBody>
          <a:bodyPr wrap="square" lIns="0" tIns="0" rIns="0" bIns="0" rtlCol="0" anchor="ctr"/>
          <a:lstStyle/>
          <a:p>
            <a:pPr marL="0" indent="0" algn="l">
              <a:buNone/>
            </a:pPr>
            <a:r>
              <a:rPr lang="en-US" sz="3600" b="1" dirty="0">
                <a:solidFill>
                  <a:schemeClr val="tx1"/>
                </a:solidFill>
              </a:rPr>
              <a:t>Impact, Feasibility &amp; Risks</a:t>
            </a:r>
            <a:endParaRPr lang="en-US" sz="3600" dirty="0"/>
          </a:p>
        </p:txBody>
      </p:sp>
      <p:sp>
        <p:nvSpPr>
          <p:cNvPr id="4" name="Impact label"/>
          <p:cNvSpPr/>
          <p:nvPr/>
        </p:nvSpPr>
        <p:spPr>
          <a:xfrm>
            <a:off x="548640" y="1554480"/>
            <a:ext cx="3108960" cy="960120"/>
          </a:xfrm>
          <a:prstGeom prst="roundRect">
            <a:avLst>
              <a:gd name="adj" fmla="val 11429"/>
            </a:avLst>
          </a:prstGeom>
          <a:solidFill>
            <a:schemeClr val="accent1"/>
          </a:solidFill>
          <a:ln/>
        </p:spPr>
      </p:sp>
      <p:sp>
        <p:nvSpPr>
          <p:cNvPr id="5" name="Impact icon circle"/>
          <p:cNvSpPr/>
          <p:nvPr/>
        </p:nvSpPr>
        <p:spPr>
          <a:xfrm>
            <a:off x="777240" y="1709928"/>
            <a:ext cx="640080" cy="640080"/>
          </a:xfrm>
          <a:prstGeom prst="ellipse">
            <a:avLst/>
          </a:prstGeom>
          <a:solidFill>
            <a:schemeClr val="tx1"/>
          </a:solidFill>
          <a:ln/>
        </p:spPr>
      </p:sp>
      <p:pic>
        <p:nvPicPr>
          <p:cNvPr id="6" name="Impact icon" descr="Impact icon"/>
          <p:cNvPicPr>
            <a:picLocks noChangeAspect="1"/>
          </p:cNvPicPr>
          <p:nvPr/>
        </p:nvPicPr>
        <p:blipFill>
          <a:blip r:embed="rId3"/>
          <a:stretch>
            <a:fillRect/>
          </a:stretch>
        </p:blipFill>
        <p:spPr>
          <a:xfrm>
            <a:off x="943661" y="1876349"/>
            <a:ext cx="307238" cy="307238"/>
          </a:xfrm>
          <a:prstGeom prst="rect">
            <a:avLst/>
          </a:prstGeom>
        </p:spPr>
      </p:pic>
      <p:sp>
        <p:nvSpPr>
          <p:cNvPr id="7" name="Text 3"/>
          <p:cNvSpPr txBox="1"/>
          <p:nvPr/>
        </p:nvSpPr>
        <p:spPr>
          <a:xfrm>
            <a:off x="1554480" y="1554480"/>
            <a:ext cx="2011680" cy="960120"/>
          </a:xfrm>
          <a:prstGeom prst="rect">
            <a:avLst/>
          </a:prstGeom>
          <a:noFill/>
          <a:ln/>
        </p:spPr>
        <p:txBody>
          <a:bodyPr wrap="square" lIns="0" tIns="0" rIns="0" bIns="0" rtlCol="0" anchor="ctr"/>
          <a:lstStyle/>
          <a:p>
            <a:pPr marL="0" indent="0">
              <a:buNone/>
            </a:pPr>
            <a:r>
              <a:rPr lang="en-US" sz="1800" b="1" dirty="0">
                <a:solidFill>
                  <a:schemeClr val="bg1"/>
                </a:solidFill>
              </a:rPr>
              <a:t>Impact</a:t>
            </a:r>
            <a:endParaRPr lang="en-US" sz="1800" dirty="0"/>
          </a:p>
        </p:txBody>
      </p:sp>
      <p:sp>
        <p:nvSpPr>
          <p:cNvPr id="8" name="Impact text card"/>
          <p:cNvSpPr/>
          <p:nvPr/>
        </p:nvSpPr>
        <p:spPr>
          <a:xfrm>
            <a:off x="3840480" y="1554480"/>
            <a:ext cx="7799832" cy="960120"/>
          </a:xfrm>
          <a:prstGeom prst="roundRect">
            <a:avLst>
              <a:gd name="adj" fmla="val 11429"/>
            </a:avLst>
          </a:prstGeom>
          <a:solidFill>
            <a:schemeClr val="bg2"/>
          </a:solidFill>
          <a:ln/>
        </p:spPr>
      </p:sp>
      <p:sp>
        <p:nvSpPr>
          <p:cNvPr id="9" name="Text 5"/>
          <p:cNvSpPr txBox="1"/>
          <p:nvPr/>
        </p:nvSpPr>
        <p:spPr>
          <a:xfrm>
            <a:off x="4114800" y="1554480"/>
            <a:ext cx="7223760" cy="960120"/>
          </a:xfrm>
          <a:prstGeom prst="rect">
            <a:avLst/>
          </a:prstGeom>
          <a:noFill/>
          <a:ln/>
        </p:spPr>
        <p:txBody>
          <a:bodyPr wrap="square" lIns="0" tIns="0" rIns="0" bIns="0" rtlCol="0" anchor="ctr"/>
          <a:lstStyle/>
          <a:p>
            <a:pPr marL="0" indent="0">
              <a:buNone/>
            </a:pPr>
            <a:r>
              <a:rPr lang="en-US" sz="1400" dirty="0">
                <a:solidFill>
                  <a:schemeClr val="accent6"/>
                </a:solidFill>
              </a:rPr>
              <a:t>Reviewers check flagged pairs first, and fewer students are falsely accused.</a:t>
            </a:r>
            <a:endParaRPr lang="en-US" sz="1400" dirty="0"/>
          </a:p>
        </p:txBody>
      </p:sp>
      <p:sp>
        <p:nvSpPr>
          <p:cNvPr id="10" name="Feasibility label"/>
          <p:cNvSpPr/>
          <p:nvPr/>
        </p:nvSpPr>
        <p:spPr>
          <a:xfrm>
            <a:off x="548640" y="2697480"/>
            <a:ext cx="3108960" cy="960120"/>
          </a:xfrm>
          <a:prstGeom prst="roundRect">
            <a:avLst>
              <a:gd name="adj" fmla="val 11429"/>
            </a:avLst>
          </a:prstGeom>
          <a:solidFill>
            <a:schemeClr val="accent3"/>
          </a:solidFill>
          <a:ln/>
        </p:spPr>
      </p:sp>
      <p:sp>
        <p:nvSpPr>
          <p:cNvPr id="11" name="Feasibility icon circle"/>
          <p:cNvSpPr/>
          <p:nvPr/>
        </p:nvSpPr>
        <p:spPr>
          <a:xfrm>
            <a:off x="777240" y="2852928"/>
            <a:ext cx="640080" cy="640080"/>
          </a:xfrm>
          <a:prstGeom prst="ellipse">
            <a:avLst/>
          </a:prstGeom>
          <a:solidFill>
            <a:schemeClr val="tx1"/>
          </a:solidFill>
          <a:ln/>
        </p:spPr>
      </p:sp>
      <p:pic>
        <p:nvPicPr>
          <p:cNvPr id="12" name="Feasibility icon" descr="Feasibility icon"/>
          <p:cNvPicPr>
            <a:picLocks noChangeAspect="1"/>
          </p:cNvPicPr>
          <p:nvPr/>
        </p:nvPicPr>
        <p:blipFill>
          <a:blip r:embed="rId4"/>
          <a:stretch>
            <a:fillRect/>
          </a:stretch>
        </p:blipFill>
        <p:spPr>
          <a:xfrm>
            <a:off x="943661" y="3019349"/>
            <a:ext cx="307238" cy="307238"/>
          </a:xfrm>
          <a:prstGeom prst="rect">
            <a:avLst/>
          </a:prstGeom>
        </p:spPr>
      </p:pic>
      <p:sp>
        <p:nvSpPr>
          <p:cNvPr id="13" name="Text 8"/>
          <p:cNvSpPr txBox="1"/>
          <p:nvPr/>
        </p:nvSpPr>
        <p:spPr>
          <a:xfrm>
            <a:off x="1554480" y="2697480"/>
            <a:ext cx="2011680" cy="960120"/>
          </a:xfrm>
          <a:prstGeom prst="rect">
            <a:avLst/>
          </a:prstGeom>
          <a:noFill/>
          <a:ln/>
        </p:spPr>
        <p:txBody>
          <a:bodyPr wrap="square" lIns="0" tIns="0" rIns="0" bIns="0" rtlCol="0" anchor="ctr"/>
          <a:lstStyle/>
          <a:p>
            <a:pPr marL="0" indent="0">
              <a:buNone/>
            </a:pPr>
            <a:r>
              <a:rPr lang="en-US" sz="1800" b="1" dirty="0">
                <a:solidFill>
                  <a:schemeClr val="bg1"/>
                </a:solidFill>
              </a:rPr>
              <a:t>Feasibility</a:t>
            </a:r>
            <a:endParaRPr lang="en-US" sz="1800" dirty="0"/>
          </a:p>
        </p:txBody>
      </p:sp>
      <p:sp>
        <p:nvSpPr>
          <p:cNvPr id="14" name="Feasibility text card"/>
          <p:cNvSpPr/>
          <p:nvPr/>
        </p:nvSpPr>
        <p:spPr>
          <a:xfrm>
            <a:off x="3840480" y="2697480"/>
            <a:ext cx="7799832" cy="960120"/>
          </a:xfrm>
          <a:prstGeom prst="roundRect">
            <a:avLst>
              <a:gd name="adj" fmla="val 11429"/>
            </a:avLst>
          </a:prstGeom>
          <a:solidFill>
            <a:schemeClr val="bg2"/>
          </a:solidFill>
          <a:ln/>
        </p:spPr>
      </p:sp>
      <p:sp>
        <p:nvSpPr>
          <p:cNvPr id="15" name="Text 10"/>
          <p:cNvSpPr txBox="1"/>
          <p:nvPr/>
        </p:nvSpPr>
        <p:spPr>
          <a:xfrm>
            <a:off x="4114800" y="2697480"/>
            <a:ext cx="7223760" cy="960120"/>
          </a:xfrm>
          <a:prstGeom prst="rect">
            <a:avLst/>
          </a:prstGeom>
          <a:noFill/>
          <a:ln/>
        </p:spPr>
        <p:txBody>
          <a:bodyPr wrap="square" lIns="0" tIns="0" rIns="0" bIns="0" rtlCol="0" anchor="ctr"/>
          <a:lstStyle/>
          <a:p>
            <a:pPr marL="0" indent="0">
              <a:buNone/>
            </a:pPr>
            <a:r>
              <a:rPr lang="en-US" sz="1400" dirty="0">
                <a:solidFill>
                  <a:schemeClr val="accent6"/>
                </a:solidFill>
              </a:rPr>
              <a:t>Pretrained open models, no training needed, runs on CPU. Four people, 20 hours.</a:t>
            </a:r>
            <a:endParaRPr lang="en-US" sz="1400" dirty="0"/>
          </a:p>
        </p:txBody>
      </p:sp>
      <p:sp>
        <p:nvSpPr>
          <p:cNvPr id="16" name="Scalability label"/>
          <p:cNvSpPr/>
          <p:nvPr/>
        </p:nvSpPr>
        <p:spPr>
          <a:xfrm>
            <a:off x="548640" y="3840480"/>
            <a:ext cx="3108960" cy="960120"/>
          </a:xfrm>
          <a:prstGeom prst="roundRect">
            <a:avLst>
              <a:gd name="adj" fmla="val 11429"/>
            </a:avLst>
          </a:prstGeom>
          <a:solidFill>
            <a:schemeClr val="accent5"/>
          </a:solidFill>
          <a:ln/>
        </p:spPr>
      </p:sp>
      <p:sp>
        <p:nvSpPr>
          <p:cNvPr id="17" name="Scalability icon circle"/>
          <p:cNvSpPr/>
          <p:nvPr/>
        </p:nvSpPr>
        <p:spPr>
          <a:xfrm>
            <a:off x="777240" y="3995928"/>
            <a:ext cx="640080" cy="640080"/>
          </a:xfrm>
          <a:prstGeom prst="ellipse">
            <a:avLst/>
          </a:prstGeom>
          <a:solidFill>
            <a:schemeClr val="tx1"/>
          </a:solidFill>
          <a:ln/>
        </p:spPr>
      </p:sp>
      <p:pic>
        <p:nvPicPr>
          <p:cNvPr id="18" name="Scalability icon" descr="Scalability icon"/>
          <p:cNvPicPr>
            <a:picLocks noChangeAspect="1"/>
          </p:cNvPicPr>
          <p:nvPr/>
        </p:nvPicPr>
        <p:blipFill>
          <a:blip r:embed="rId5"/>
          <a:stretch>
            <a:fillRect/>
          </a:stretch>
        </p:blipFill>
        <p:spPr>
          <a:xfrm>
            <a:off x="943661" y="4162349"/>
            <a:ext cx="307238" cy="307238"/>
          </a:xfrm>
          <a:prstGeom prst="rect">
            <a:avLst/>
          </a:prstGeom>
        </p:spPr>
      </p:pic>
      <p:sp>
        <p:nvSpPr>
          <p:cNvPr id="19" name="Text 13"/>
          <p:cNvSpPr txBox="1"/>
          <p:nvPr/>
        </p:nvSpPr>
        <p:spPr>
          <a:xfrm>
            <a:off x="1554480" y="3840480"/>
            <a:ext cx="2011680" cy="960120"/>
          </a:xfrm>
          <a:prstGeom prst="rect">
            <a:avLst/>
          </a:prstGeom>
          <a:noFill/>
          <a:ln/>
        </p:spPr>
        <p:txBody>
          <a:bodyPr wrap="square" lIns="0" tIns="0" rIns="0" bIns="0" rtlCol="0" anchor="ctr"/>
          <a:lstStyle/>
          <a:p>
            <a:pPr marL="0" indent="0">
              <a:buNone/>
            </a:pPr>
            <a:r>
              <a:rPr lang="en-US" sz="1800" b="1" dirty="0">
                <a:solidFill>
                  <a:schemeClr val="bg1"/>
                </a:solidFill>
              </a:rPr>
              <a:t>Scalability</a:t>
            </a:r>
            <a:endParaRPr lang="en-US" sz="1800" dirty="0"/>
          </a:p>
        </p:txBody>
      </p:sp>
      <p:sp>
        <p:nvSpPr>
          <p:cNvPr id="20" name="Scalability text card"/>
          <p:cNvSpPr/>
          <p:nvPr/>
        </p:nvSpPr>
        <p:spPr>
          <a:xfrm>
            <a:off x="3840480" y="3840480"/>
            <a:ext cx="7799832" cy="960120"/>
          </a:xfrm>
          <a:prstGeom prst="roundRect">
            <a:avLst>
              <a:gd name="adj" fmla="val 11429"/>
            </a:avLst>
          </a:prstGeom>
          <a:solidFill>
            <a:schemeClr val="bg2"/>
          </a:solidFill>
          <a:ln/>
        </p:spPr>
      </p:sp>
      <p:sp>
        <p:nvSpPr>
          <p:cNvPr id="21" name="Text 15"/>
          <p:cNvSpPr txBox="1"/>
          <p:nvPr/>
        </p:nvSpPr>
        <p:spPr>
          <a:xfrm>
            <a:off x="4024579" y="3840480"/>
            <a:ext cx="7223760" cy="960120"/>
          </a:xfrm>
          <a:prstGeom prst="rect">
            <a:avLst/>
          </a:prstGeom>
          <a:noFill/>
          <a:ln/>
        </p:spPr>
        <p:txBody>
          <a:bodyPr wrap="square" lIns="0" tIns="0" rIns="0" bIns="0" rtlCol="0" anchor="ctr"/>
          <a:lstStyle/>
          <a:p>
            <a:pPr marL="0" indent="0">
              <a:buNone/>
            </a:pPr>
            <a:r>
              <a:rPr lang="en-US" sz="1400" dirty="0">
                <a:solidFill>
                  <a:schemeClr val="accent6"/>
                </a:solidFill>
              </a:rPr>
              <a:t>Swap SQLite for PostgreSQL and add FAISS to handle larger batches.</a:t>
            </a:r>
            <a:endParaRPr lang="en-US" sz="1400" dirty="0"/>
          </a:p>
        </p:txBody>
      </p:sp>
      <p:sp>
        <p:nvSpPr>
          <p:cNvPr id="22" name="Risks &amp; mitigation label"/>
          <p:cNvSpPr/>
          <p:nvPr/>
        </p:nvSpPr>
        <p:spPr>
          <a:xfrm>
            <a:off x="548640" y="4983480"/>
            <a:ext cx="3108960" cy="960120"/>
          </a:xfrm>
          <a:prstGeom prst="roundRect">
            <a:avLst>
              <a:gd name="adj" fmla="val 11429"/>
            </a:avLst>
          </a:prstGeom>
          <a:solidFill>
            <a:schemeClr val="accent2"/>
          </a:solidFill>
          <a:ln/>
        </p:spPr>
      </p:sp>
      <p:sp>
        <p:nvSpPr>
          <p:cNvPr id="23" name="Risks &amp; mitigation icon circle"/>
          <p:cNvSpPr/>
          <p:nvPr/>
        </p:nvSpPr>
        <p:spPr>
          <a:xfrm>
            <a:off x="777240" y="5138928"/>
            <a:ext cx="640080" cy="640080"/>
          </a:xfrm>
          <a:prstGeom prst="ellipse">
            <a:avLst/>
          </a:prstGeom>
          <a:solidFill>
            <a:schemeClr val="tx1"/>
          </a:solidFill>
          <a:ln/>
        </p:spPr>
      </p:sp>
      <p:pic>
        <p:nvPicPr>
          <p:cNvPr id="24" name="Risks &amp; mitigation icon" descr="Risks &amp; mitigation icon"/>
          <p:cNvPicPr>
            <a:picLocks noChangeAspect="1"/>
          </p:cNvPicPr>
          <p:nvPr/>
        </p:nvPicPr>
        <p:blipFill>
          <a:blip r:embed="rId6"/>
          <a:stretch>
            <a:fillRect/>
          </a:stretch>
        </p:blipFill>
        <p:spPr>
          <a:xfrm>
            <a:off x="943661" y="5305349"/>
            <a:ext cx="307238" cy="307238"/>
          </a:xfrm>
          <a:prstGeom prst="rect">
            <a:avLst/>
          </a:prstGeom>
        </p:spPr>
      </p:pic>
      <p:sp>
        <p:nvSpPr>
          <p:cNvPr id="25" name="Text 18"/>
          <p:cNvSpPr txBox="1"/>
          <p:nvPr/>
        </p:nvSpPr>
        <p:spPr>
          <a:xfrm>
            <a:off x="1554480" y="4983480"/>
            <a:ext cx="2011680" cy="960120"/>
          </a:xfrm>
          <a:prstGeom prst="rect">
            <a:avLst/>
          </a:prstGeom>
          <a:noFill/>
          <a:ln/>
        </p:spPr>
        <p:txBody>
          <a:bodyPr wrap="square" lIns="0" tIns="0" rIns="0" bIns="0" rtlCol="0" anchor="ctr"/>
          <a:lstStyle/>
          <a:p>
            <a:pPr marL="0" indent="0">
              <a:buNone/>
            </a:pPr>
            <a:r>
              <a:rPr lang="en-US" sz="1800" b="1" dirty="0">
                <a:solidFill>
                  <a:schemeClr val="bg1"/>
                </a:solidFill>
              </a:rPr>
              <a:t>Risks &amp; mitigation</a:t>
            </a:r>
            <a:endParaRPr lang="en-US" sz="1800" dirty="0"/>
          </a:p>
        </p:txBody>
      </p:sp>
      <p:sp>
        <p:nvSpPr>
          <p:cNvPr id="26" name="Risks &amp; mitigation text card"/>
          <p:cNvSpPr/>
          <p:nvPr/>
        </p:nvSpPr>
        <p:spPr>
          <a:xfrm>
            <a:off x="3840480" y="4983480"/>
            <a:ext cx="7799832" cy="960120"/>
          </a:xfrm>
          <a:prstGeom prst="roundRect">
            <a:avLst>
              <a:gd name="adj" fmla="val 11429"/>
            </a:avLst>
          </a:prstGeom>
          <a:solidFill>
            <a:schemeClr val="bg2"/>
          </a:solidFill>
          <a:ln/>
        </p:spPr>
      </p:sp>
      <p:sp>
        <p:nvSpPr>
          <p:cNvPr id="27" name="Text 20"/>
          <p:cNvSpPr txBox="1"/>
          <p:nvPr/>
        </p:nvSpPr>
        <p:spPr>
          <a:xfrm>
            <a:off x="4114800" y="4983480"/>
            <a:ext cx="7223760" cy="960120"/>
          </a:xfrm>
          <a:prstGeom prst="rect">
            <a:avLst/>
          </a:prstGeom>
          <a:noFill/>
          <a:ln/>
        </p:spPr>
        <p:txBody>
          <a:bodyPr wrap="square" lIns="0" tIns="0" rIns="0" bIns="0" rtlCol="0" anchor="ctr"/>
          <a:lstStyle/>
          <a:p>
            <a:pPr marL="0" indent="0">
              <a:buNone/>
            </a:pPr>
            <a:r>
              <a:rPr lang="en-US" sz="1400" dirty="0">
                <a:solidFill>
                  <a:schemeClr val="accent6"/>
                </a:solidFill>
              </a:rPr>
              <a:t>Risk: false flags on same-topic answers. Fix: batch baseline, common-text filter, human review.</a:t>
            </a:r>
            <a:endParaRPr lang="en-US" sz="1400" dirty="0"/>
          </a:p>
        </p:txBody>
      </p:sp>
      <p:sp>
        <p:nvSpPr>
          <p:cNvPr id="3"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2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theme/theme1.xml><?xml version="1.0" encoding="utf-8"?>
<a:theme xmlns:a="http://schemas.openxmlformats.org/drawingml/2006/main" name="Hackathon Design Round">
  <a:themeElements>
    <a:clrScheme name="Hackathon Design Round">
      <a:dk1>
        <a:srgbClr val="071A3D"/>
      </a:dk1>
      <a:lt1>
        <a:srgbClr val="FFFFFF"/>
      </a:lt1>
      <a:dk2>
        <a:srgbClr val="0F2F6B"/>
      </a:dk2>
      <a:lt2>
        <a:srgbClr val="EEF4FD"/>
      </a:lt2>
      <a:accent1>
        <a:srgbClr val="1F6FEB"/>
      </a:accent1>
      <a:accent2>
        <a:srgbClr val="E8512F"/>
      </a:accent2>
      <a:accent3>
        <a:srgbClr val="0E8F83"/>
      </a:accent3>
      <a:accent4>
        <a:srgbClr val="FFC21A"/>
      </a:accent4>
      <a:accent5>
        <a:srgbClr val="0B4FC4"/>
      </a:accent5>
      <a:accent6>
        <a:srgbClr val="5F6F8C"/>
      </a:accent6>
      <a:hlink>
        <a:srgbClr val="1F6FEB"/>
      </a:hlink>
      <a:folHlink>
        <a:srgbClr val="5F6F8C"/>
      </a:folHlink>
    </a:clrScheme>
    <a:fontScheme name="Hackathon Design Roun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TotalTime>
  <Words>980</Words>
  <Application>Microsoft Office PowerPoint</Application>
  <PresentationFormat>Widescreen</PresentationFormat>
  <Paragraphs>129</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Cambria</vt:lpstr>
      <vt:lpstr>Hackathon Design Round</vt:lpstr>
      <vt:lpstr>Design Round</vt:lpstr>
      <vt:lpstr>Problem Statement</vt:lpstr>
      <vt:lpstr>Understanding the Problem</vt:lpstr>
      <vt:lpstr>Our Proposed Solution</vt:lpstr>
      <vt:lpstr>Key Features</vt:lpstr>
      <vt:lpstr>Architecture &amp; Tech Stack</vt:lpstr>
      <vt:lpstr>Innovation &amp; Differentiation</vt:lpstr>
      <vt:lpstr>Impact, Feasibility &amp; Risks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Hackathon Design Round Template</dc:title>
  <dc:subject>PptxGenJS Presentation</dc:subject>
  <dc:creator>PptxGenJS</dc:creator>
  <cp:lastModifiedBy>Arjun Kudukuli</cp:lastModifiedBy>
  <cp:revision>4</cp:revision>
  <dcterms:created xsi:type="dcterms:W3CDTF">2026-10-10T02:01:39Z</dcterms:created>
  <dcterms:modified xsi:type="dcterms:W3CDTF">2026-10-10T10:17:56Z</dcterms:modified>
</cp:coreProperties>
</file>